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sldIdLst>
    <p:sldId id="256" r:id="rId2"/>
    <p:sldId id="257" r:id="rId3"/>
    <p:sldId id="258" r:id="rId4"/>
    <p:sldId id="259" r:id="rId5"/>
    <p:sldId id="261" r:id="rId6"/>
    <p:sldId id="276" r:id="rId7"/>
    <p:sldId id="263" r:id="rId8"/>
    <p:sldId id="266" r:id="rId9"/>
    <p:sldId id="267" r:id="rId10"/>
    <p:sldId id="265" r:id="rId11"/>
    <p:sldId id="268" r:id="rId12"/>
    <p:sldId id="269" r:id="rId13"/>
    <p:sldId id="270" r:id="rId14"/>
    <p:sldId id="271" r:id="rId15"/>
    <p:sldId id="273" r:id="rId16"/>
    <p:sldId id="274" r:id="rId17"/>
    <p:sldId id="277" r:id="rId18"/>
    <p:sldId id="275" r:id="rId19"/>
    <p:sldId id="278" r:id="rId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8622E"/>
    <a:srgbClr val="FCFCFB"/>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238"/>
    <p:restoredTop sz="76575"/>
  </p:normalViewPr>
  <p:slideViewPr>
    <p:cSldViewPr snapToGrid="0" snapToObjects="1">
      <p:cViewPr varScale="1">
        <p:scale>
          <a:sx n="91" d="100"/>
          <a:sy n="91" d="100"/>
        </p:scale>
        <p:origin x="1432"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282128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This is for a state or regional fire planner deciding, before the season starts, where to concentrate a fixed prevention and mitigation budget.</a:t>
            </a:r>
          </a:p>
          <a:p>
            <a:endParaRPr dirty="0"/>
          </a:p>
          <a:p>
            <a:r>
              <a:rPr dirty="0"/>
              <a:t>It comes out of the federal record of U.S. wildfire occurrence — </a:t>
            </a:r>
            <a:r>
              <a:rPr lang="en-US" dirty="0"/>
              <a:t>2.3 million </a:t>
            </a:r>
            <a:r>
              <a:rPr dirty="0"/>
              <a:t>fires, 1992 through 2020, each with a date, a location, a size, and a cause. A quarter have no cause recorded</a:t>
            </a:r>
            <a:r>
              <a:rPr lang="en-US" dirty="0"/>
              <a:t>.</a:t>
            </a:r>
            <a:endParaRPr dirty="0"/>
          </a:p>
          <a:p>
            <a:endParaRPr dirty="0"/>
          </a:p>
          <a:p>
            <a:r>
              <a:rPr dirty="0"/>
              <a:t>The recommendation, up front: for pre-season planning, rank the ground — not the fire. Where fires start is predictable. How big they get, before the season, is not.</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Fire runs on a calendar, and the two peaks are months apart. The dashed line is when fires start, the solid one is how much burns. Spring and summer start about the same number of fires — summer burns almost four times the area.</a:t>
            </a:r>
          </a:p>
          <a:p>
            <a:endParaRPr dirty="0"/>
          </a:p>
          <a:p>
            <a:r>
              <a:rPr dirty="0"/>
              <a:t>Planners have to decide what to target, and where, before the season starts.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Fire follows terrain, vegetation and climate</a:t>
            </a:r>
            <a:r>
              <a:rPr lang="en-US" dirty="0"/>
              <a:t>, not state borders, </a:t>
            </a:r>
            <a:r>
              <a:rPr dirty="0"/>
              <a:t>so </a:t>
            </a:r>
            <a:r>
              <a:rPr lang="en-US" dirty="0"/>
              <a:t>I’ve placed </a:t>
            </a:r>
            <a:r>
              <a:rPr dirty="0"/>
              <a:t>every </a:t>
            </a:r>
            <a:r>
              <a:rPr lang="en-US" dirty="0"/>
              <a:t>fire </a:t>
            </a:r>
            <a:r>
              <a:rPr dirty="0"/>
              <a:t>into an EPA Level III ecoregion. A hundred and five cover the country.</a:t>
            </a:r>
          </a:p>
          <a:p>
            <a:endParaRPr dirty="0"/>
          </a:p>
          <a:p>
            <a:r>
              <a:rPr lang="en-US" dirty="0"/>
              <a:t>If we s</a:t>
            </a:r>
            <a:r>
              <a:rPr dirty="0"/>
              <a:t>hade each by how much of its burned area i</a:t>
            </a:r>
            <a:r>
              <a:rPr lang="en-US" dirty="0"/>
              <a:t>s of natural versus human causes, then </a:t>
            </a:r>
            <a:r>
              <a:rPr dirty="0"/>
              <a:t>the map splits at about the hundredth meridian</a:t>
            </a:r>
            <a:r>
              <a:rPr lang="en-US" dirty="0"/>
              <a:t>… </a:t>
            </a:r>
            <a:r>
              <a:rPr dirty="0"/>
              <a:t>natural in the West, human in the East.</a:t>
            </a:r>
          </a:p>
          <a:p>
            <a:endParaRPr dirty="0"/>
          </a:p>
          <a:p>
            <a:r>
              <a:rPr lang="en-US" dirty="0"/>
              <a:t>T</a:t>
            </a:r>
            <a:r>
              <a:rPr dirty="0"/>
              <a:t>here's no national answer to what starts fires. There are regional ones.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The cause</a:t>
            </a:r>
            <a:r>
              <a:rPr dirty="0"/>
              <a:t> mix is three classes splitting a region-season's burned acres </a:t>
            </a:r>
            <a:r>
              <a:rPr lang="en-US" dirty="0"/>
              <a:t>into</a:t>
            </a:r>
            <a:r>
              <a:rPr dirty="0"/>
              <a:t> natural, human, and unknown</a:t>
            </a:r>
            <a:r>
              <a:rPr lang="en-US" dirty="0"/>
              <a:t>.</a:t>
            </a:r>
            <a:endParaRPr dirty="0"/>
          </a:p>
          <a:p>
            <a:endParaRPr dirty="0"/>
          </a:p>
          <a:p>
            <a:r>
              <a:rPr lang="en-US" dirty="0"/>
              <a:t>We're looking at t</a:t>
            </a:r>
            <a:r>
              <a:rPr dirty="0"/>
              <a:t>hree ways to predict that mix</a:t>
            </a:r>
            <a:r>
              <a:rPr lang="en-US" dirty="0"/>
              <a:t> using a trailing mean of 7 years by region-season, acre-weighted, forward-chained. A </a:t>
            </a:r>
            <a:r>
              <a:rPr dirty="0"/>
              <a:t>region's own seasonal history</a:t>
            </a:r>
            <a:r>
              <a:rPr lang="en-US" dirty="0"/>
              <a:t> beats the aggregate models shown here.</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Human-caused fires break down to eleven </a:t>
            </a:r>
            <a:r>
              <a:rPr lang="en-US" dirty="0"/>
              <a:t>sub-</a:t>
            </a:r>
            <a:r>
              <a:rPr dirty="0"/>
              <a:t>causes: arson, equipment, debris burning, powerlines, and so on. Rank them per region-season by the acres each drives</a:t>
            </a:r>
            <a:r>
              <a:rPr lang="en-US" dirty="0"/>
              <a:t>, not by count.</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a:p>
        </p:txBody>
      </p:sp>
      <p:sp>
        <p:nvSpPr>
          <p:cNvPr id="3" name="Notes Placeholder 2"/>
          <p:cNvSpPr>
            <a:spLocks noGrp="1"/>
          </p:cNvSpPr>
          <p:nvPr>
            <p:ph type="body" sz="quarter" idx="3"/>
          </p:nvPr>
        </p:nvSpPr>
        <p:spPr/>
        <p:txBody>
          <a:bodyPr/>
          <a:lstStyle/>
          <a:p>
            <a:r>
              <a:rPr dirty="0"/>
              <a:t>We tried training a few different models on a few different feature sets. None of them beat the region's own seasonal history — including the ones we handed that history to.</a:t>
            </a:r>
          </a:p>
        </p:txBody>
      </p:sp>
      <p:sp>
        <p:nvSpPr>
          <p:cNvPr id="4" name="Slide Number Placeholder 3"/>
          <p:cNvSpPr>
            <a:spLocks noGrp="1"/>
          </p:cNvSpPr>
          <p:nvPr>
            <p:ph type="sldNum" sz="quarter"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Ecoregion is the right scale for deciding what to target, but the wrong one for deciding where to focus resources. </a:t>
            </a:r>
            <a:r>
              <a:rPr lang="en-US" dirty="0"/>
              <a:t>I l</a:t>
            </a:r>
            <a:r>
              <a:rPr dirty="0"/>
              <a:t>ayer</a:t>
            </a:r>
            <a:r>
              <a:rPr lang="en-US" dirty="0"/>
              <a:t>ed</a:t>
            </a:r>
            <a:r>
              <a:rPr dirty="0"/>
              <a:t> in a </a:t>
            </a:r>
            <a:r>
              <a:rPr dirty="0" err="1"/>
              <a:t>hexmap</a:t>
            </a:r>
            <a:r>
              <a:rPr dirty="0"/>
              <a:t> of cells, about sixty thousand acres each, and the target change</a:t>
            </a:r>
            <a:r>
              <a:rPr lang="en-US" dirty="0"/>
              <a:t>d </a:t>
            </a:r>
            <a:r>
              <a:rPr dirty="0"/>
              <a:t>with it: </a:t>
            </a:r>
            <a:r>
              <a:rPr lang="en-US" dirty="0"/>
              <a:t>no longer</a:t>
            </a:r>
            <a:r>
              <a:rPr dirty="0"/>
              <a:t> shares of burned area</a:t>
            </a:r>
            <a:r>
              <a:rPr lang="en-US" dirty="0"/>
              <a:t>s,  it’s now</a:t>
            </a:r>
            <a:r>
              <a:rPr dirty="0"/>
              <a:t> counts of ignitions.</a:t>
            </a:r>
          </a:p>
          <a:p>
            <a:endParaRPr dirty="0"/>
          </a:p>
          <a:p>
            <a:r>
              <a:rPr lang="en-US" dirty="0"/>
              <a:t>The region shown here is t</a:t>
            </a:r>
            <a:r>
              <a:rPr dirty="0"/>
              <a:t>he Klamath Mountains</a:t>
            </a:r>
            <a:r>
              <a:rPr lang="en-US" dirty="0"/>
              <a:t> in Western Oregon and Northern California;</a:t>
            </a:r>
            <a:r>
              <a:rPr dirty="0"/>
              <a:t> about two hundred cells. The darker cells show six percent of the ground catches a third of next season's starts; the lighter band, twenty-nine percent </a:t>
            </a:r>
            <a:r>
              <a:rPr lang="en-US" dirty="0"/>
              <a:t>of cells </a:t>
            </a:r>
            <a:r>
              <a:rPr dirty="0"/>
              <a:t>for sixty percent of the </a:t>
            </a:r>
            <a:r>
              <a:rPr lang="en-US" dirty="0"/>
              <a:t>fires started</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Same region, but now acres burned</a:t>
            </a:r>
            <a:r>
              <a:rPr dirty="0"/>
              <a:t>.</a:t>
            </a:r>
            <a:r>
              <a:rPr lang="en-US" dirty="0"/>
              <a:t> Just </a:t>
            </a:r>
            <a:r>
              <a:rPr dirty="0"/>
              <a:t>one percent </a:t>
            </a:r>
            <a:r>
              <a:rPr lang="en-US" dirty="0"/>
              <a:t>of the cells </a:t>
            </a:r>
            <a:r>
              <a:rPr dirty="0"/>
              <a:t>hold</a:t>
            </a:r>
            <a:r>
              <a:rPr lang="en-US" dirty="0"/>
              <a:t>s</a:t>
            </a:r>
            <a:r>
              <a:rPr dirty="0"/>
              <a:t> more than half</a:t>
            </a:r>
            <a:r>
              <a:rPr lang="en-US" dirty="0"/>
              <a:t> of the burned area.</a:t>
            </a:r>
            <a:endParaRPr dirty="0"/>
          </a:p>
          <a:p>
            <a:endParaRPr dirty="0"/>
          </a:p>
          <a:p>
            <a:r>
              <a:rPr lang="en-US" dirty="0"/>
              <a:t>A </a:t>
            </a:r>
            <a:r>
              <a:rPr dirty="0"/>
              <a:t>forecast only matters at the </a:t>
            </a:r>
            <a:r>
              <a:rPr lang="en-US" dirty="0"/>
              <a:t>top 10% of cells ranked by acres burned.</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Still on acres burned — same cells, same ordering. Across the left two thirds they track together more or less</a:t>
            </a:r>
            <a:r>
              <a:rPr lang="en-US" dirty="0"/>
              <a:t>, t</a:t>
            </a:r>
            <a:r>
              <a:rPr dirty="0"/>
              <a:t>hen they split. At the right edge, on the cells that hold the acres, human fire is off by a factor of nineteen</a:t>
            </a:r>
            <a:r>
              <a:rPr lang="en-US" dirty="0"/>
              <a:t>; natural fires off</a:t>
            </a:r>
            <a:r>
              <a:rPr dirty="0"/>
              <a:t> by nearly seven hundred.</a:t>
            </a:r>
          </a:p>
          <a:p>
            <a:endParaRPr dirty="0"/>
          </a:p>
          <a:p>
            <a:r>
              <a:rPr dirty="0"/>
              <a:t>So these ship as two different products. Human acres burned you can rank by expected acres. Nature fires you can't — which means for </a:t>
            </a:r>
            <a:r>
              <a:rPr lang="en-US" dirty="0"/>
              <a:t>prioritizing natural fire mitigation resources,</a:t>
            </a:r>
            <a:r>
              <a:rPr dirty="0"/>
              <a:t> the answer </a:t>
            </a:r>
            <a:r>
              <a:rPr lang="en-US" dirty="0"/>
              <a:t>is </a:t>
            </a:r>
            <a:r>
              <a:rPr dirty="0"/>
              <a:t>something other than </a:t>
            </a:r>
            <a:r>
              <a:rPr lang="en-US" dirty="0"/>
              <a:t>fire size</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When we rank</a:t>
            </a:r>
            <a:r>
              <a:rPr dirty="0"/>
              <a:t> cells by where fires start </a:t>
            </a:r>
            <a:r>
              <a:rPr lang="en-US" dirty="0"/>
              <a:t>it </a:t>
            </a:r>
            <a:r>
              <a:rPr dirty="0"/>
              <a:t>splits by season. Human in blue, natural in orange.</a:t>
            </a:r>
          </a:p>
          <a:p>
            <a:endParaRPr dirty="0"/>
          </a:p>
          <a:p>
            <a:r>
              <a:rPr dirty="0"/>
              <a:t>Human fire is </a:t>
            </a:r>
            <a:r>
              <a:rPr dirty="0" err="1"/>
              <a:t>rankable</a:t>
            </a:r>
            <a:r>
              <a:rPr dirty="0"/>
              <a:t> all year. It peaks in spring, but it never drops far. Natural fire is a summer phenomenon — good in July, and by winter it's essentially nothing.</a:t>
            </a:r>
          </a:p>
          <a:p>
            <a:endParaRPr dirty="0"/>
          </a:p>
          <a:p>
            <a:r>
              <a:rPr dirty="0"/>
              <a:t>That matters because they call for different work. Human ignition is a year-round program</a:t>
            </a:r>
            <a:r>
              <a:rPr lang="en-US" dirty="0"/>
              <a:t> of prevention</a:t>
            </a:r>
            <a:r>
              <a:rPr dirty="0"/>
              <a:t>. </a:t>
            </a:r>
            <a:r>
              <a:rPr lang="en-US" dirty="0"/>
              <a:t>Natural ignition </a:t>
            </a:r>
            <a:r>
              <a:rPr dirty="0"/>
              <a:t>is a seasonal </a:t>
            </a:r>
            <a:r>
              <a:rPr lang="en-US" dirty="0"/>
              <a:t>program of mitigation</a:t>
            </a:r>
            <a:r>
              <a:rPr dirty="0"/>
              <a:t>, and its the one that burns the most.</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I layered in data about drought and fuel density over time. Nothing moved. The axis starts at zero, so a real effect would show, and the best gain here is </a:t>
            </a:r>
            <a:r>
              <a:rPr lang="en-US" dirty="0"/>
              <a:t>just </a:t>
            </a:r>
            <a:r>
              <a:rPr dirty="0"/>
              <a:t>four thousandths</a:t>
            </a:r>
            <a:r>
              <a:rPr lang="en-US" dirty="0"/>
              <a:t> of a point.</a:t>
            </a:r>
            <a:endParaRPr dirty="0"/>
          </a:p>
          <a:p>
            <a:endParaRPr dirty="0"/>
          </a:p>
          <a:p>
            <a:r>
              <a:rPr dirty="0"/>
              <a:t>Here's why. Greener cells </a:t>
            </a:r>
            <a:r>
              <a:rPr lang="en-US" dirty="0"/>
              <a:t>with more fuel </a:t>
            </a:r>
            <a:r>
              <a:rPr dirty="0"/>
              <a:t>do get more fires than browner ones. But when a cell is greener than its own normal, it barely gets </a:t>
            </a:r>
            <a:r>
              <a:rPr b="1" dirty="0"/>
              <a:t>more fires</a:t>
            </a:r>
            <a:r>
              <a:rPr dirty="0"/>
              <a:t> than its own normal. These covariates find dry </a:t>
            </a:r>
            <a:r>
              <a:rPr b="1" dirty="0"/>
              <a:t>places</a:t>
            </a:r>
            <a:r>
              <a:rPr dirty="0"/>
              <a:t> </a:t>
            </a:r>
            <a:r>
              <a:rPr lang="en-US" dirty="0"/>
              <a:t>which the </a:t>
            </a:r>
            <a:r>
              <a:rPr dirty="0"/>
              <a:t>history already knows. Where fires start is a property of the place, not of the year.</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However, the same data does help us predict how much fire will burn after it starts.</a:t>
            </a:r>
            <a:endParaRPr dirty="0"/>
          </a:p>
          <a:p>
            <a:endParaRPr dirty="0"/>
          </a:p>
          <a:p>
            <a:r>
              <a:rPr dirty="0"/>
              <a:t>Drought alone does nothing. Fuel alone does nothing. Together they give a real gain — a fifth better than history, holding across every way we split the years. Which makes sense: wet heavy fuel won't carry fire, dry bare ground has nothing to burn. You need both.</a:t>
            </a:r>
          </a:p>
          <a:p>
            <a:endParaRPr dirty="0"/>
          </a:p>
          <a:p>
            <a:r>
              <a:rPr dirty="0"/>
              <a:t>So the data does know </a:t>
            </a:r>
            <a:r>
              <a:rPr b="1" dirty="0"/>
              <a:t>something</a:t>
            </a:r>
            <a:r>
              <a:rPr dirty="0"/>
              <a:t> about how much burns. The question is whether it knows it anywhere useful.</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L</a:t>
            </a:r>
            <a:r>
              <a:rPr dirty="0"/>
              <a:t>ook at where it lands. Same axis as before, with the covariate model laid over the baseline.</a:t>
            </a:r>
          </a:p>
          <a:p>
            <a:endParaRPr dirty="0"/>
          </a:p>
          <a:p>
            <a:r>
              <a:rPr dirty="0"/>
              <a:t>The blue lens is the gain. It's real, </a:t>
            </a:r>
            <a:r>
              <a:rPr lang="en-US" dirty="0"/>
              <a:t>but</a:t>
            </a:r>
            <a:r>
              <a:rPr dirty="0"/>
              <a:t> it's on cells of one to two hundred acres. At the right</a:t>
            </a:r>
            <a:r>
              <a:rPr lang="en-US" dirty="0"/>
              <a:t>-most</a:t>
            </a:r>
            <a:r>
              <a:rPr dirty="0"/>
              <a:t> edge, where almost all the burn is, the two lines finish together.</a:t>
            </a:r>
          </a:p>
          <a:p>
            <a:endParaRPr dirty="0"/>
          </a:p>
          <a:p>
            <a:r>
              <a:rPr dirty="0"/>
              <a:t>We improved the forecast exactly where it doesn’t </a:t>
            </a:r>
            <a:r>
              <a:rPr lang="en-US" dirty="0"/>
              <a:t>much </a:t>
            </a:r>
            <a:r>
              <a:rPr dirty="0"/>
              <a:t>matter. And on the smallest cells it's actually worse. So a gain that survives every statistical test still doesn't buy a planner anything — which says the problem isn’t </a:t>
            </a:r>
            <a:r>
              <a:rPr lang="en-US" dirty="0"/>
              <a:t>in </a:t>
            </a:r>
            <a:r>
              <a:rPr dirty="0"/>
              <a:t>the features.</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Siting worked once we stopped asking about a whole region and dropped to a hex. This is the same problem on the other axis. We asked how big a fire gets over a whole season</a:t>
            </a:r>
            <a:r>
              <a:rPr lang="en-US" dirty="0"/>
              <a:t>, but </a:t>
            </a:r>
            <a:r>
              <a:rPr dirty="0"/>
              <a:t>what makes a fire run is </a:t>
            </a:r>
            <a:r>
              <a:rPr lang="en-US" dirty="0"/>
              <a:t>temperature and</a:t>
            </a:r>
            <a:r>
              <a:rPr dirty="0"/>
              <a:t> wind on a particular afternoon, </a:t>
            </a:r>
            <a:r>
              <a:rPr lang="en-US" dirty="0"/>
              <a:t>or </a:t>
            </a:r>
            <a:r>
              <a:rPr dirty="0"/>
              <a:t>whether crews were already committed</a:t>
            </a:r>
            <a:r>
              <a:rPr lang="en-US" dirty="0"/>
              <a:t> elsewhere</a:t>
            </a:r>
            <a:r>
              <a:rPr dirty="0"/>
              <a:t>. A season is too coarse a unit to see that.</a:t>
            </a:r>
          </a:p>
          <a:p>
            <a:endParaRPr dirty="0"/>
          </a:p>
          <a:p>
            <a:r>
              <a:rPr dirty="0"/>
              <a:t>We couldn't test it here; same-day data is a different project. But the shape of the failure tells you where to look.</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So </a:t>
            </a:r>
            <a:r>
              <a:rPr lang="en-US" dirty="0"/>
              <a:t>our recommendation is to </a:t>
            </a:r>
            <a:r>
              <a:rPr dirty="0"/>
              <a:t>target ignition. A cell that ignites at all is about twenty times more likely to produce a thousand-acre fire than one that doesn’t</a:t>
            </a:r>
            <a:r>
              <a:rPr lang="en-US" dirty="0"/>
              <a:t>. In other words, prediction ignition matters more than predicting combustion.</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One thing left</a:t>
            </a:r>
            <a:r>
              <a:rPr lang="en-US" dirty="0"/>
              <a:t>… </a:t>
            </a:r>
            <a:r>
              <a:rPr dirty="0"/>
              <a:t>the quarter of fires with no cause on record. That's been a class to predict all along, not a </a:t>
            </a:r>
            <a:r>
              <a:rPr lang="en-US" dirty="0"/>
              <a:t>gap.</a:t>
            </a:r>
            <a:endParaRPr dirty="0"/>
          </a:p>
          <a:p>
            <a:endParaRPr dirty="0"/>
          </a:p>
          <a:p>
            <a:r>
              <a:rPr lang="en-US" dirty="0"/>
              <a:t>P</a:t>
            </a:r>
            <a:r>
              <a:rPr dirty="0"/>
              <a:t>redicting where the record goes dark gives you a worklist</a:t>
            </a:r>
            <a:r>
              <a:rPr lang="en-US" dirty="0"/>
              <a:t> for data quality improvement, and the recommendation is to address </a:t>
            </a:r>
            <a:r>
              <a:rPr dirty="0"/>
              <a:t>the region-seasons where the most acres will go unattributed</a:t>
            </a:r>
            <a:r>
              <a:rPr lang="en-US" dirty="0"/>
              <a:t>.</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Everything here start</a:t>
            </a:r>
            <a:r>
              <a:rPr lang="en-US" dirty="0"/>
              <a:t>ed with </a:t>
            </a:r>
            <a:r>
              <a:rPr dirty="0"/>
              <a:t>one federal record </a:t>
            </a:r>
            <a:r>
              <a:rPr lang="en-US" dirty="0"/>
              <a:t>of 2.3M wildfires</a:t>
            </a:r>
            <a:r>
              <a:rPr dirty="0"/>
              <a:t>, </a:t>
            </a:r>
            <a:r>
              <a:rPr lang="en-US" dirty="0"/>
              <a:t>from 1992 to 2020</a:t>
            </a:r>
            <a:r>
              <a:rPr dirty="0"/>
              <a:t>. It knows when</a:t>
            </a:r>
            <a:r>
              <a:rPr lang="en-US" dirty="0"/>
              <a:t> and where</a:t>
            </a:r>
            <a:r>
              <a:rPr dirty="0"/>
              <a:t> a fire started</a:t>
            </a:r>
            <a:r>
              <a:rPr lang="en-US" dirty="0"/>
              <a:t>, </a:t>
            </a:r>
            <a:r>
              <a:rPr dirty="0"/>
              <a:t>how big it got and what caused it.</a:t>
            </a:r>
          </a:p>
          <a:p>
            <a:endParaRPr dirty="0"/>
          </a:p>
          <a:p>
            <a:r>
              <a:rPr lang="en-US" dirty="0"/>
              <a:t>Then we layered in ecoregions, fire perimeters, drought conditions, and fuel load.</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Three products, one per class, ordered by where the acres are. For lightning — the majority of the burn — rank the ground and treat what ignites. For human fire, rank the causes by the acres they drive. And where the record says neither, fix the record.</a:t>
            </a:r>
          </a:p>
          <a:p>
            <a:endParaRPr dirty="0"/>
          </a:p>
          <a:p>
            <a:r>
              <a:rPr dirty="0"/>
              <a:t>One boundary on all three: trust the order, not the number. These will tell you which region, which cause, which ground comes first. They won't tell you how many acres you'll save.</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Rank the ground, not the fire — and trust the order, not the number.</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8/21/26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8/21/26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8/21/26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8/21/26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8/21/26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bg>
      <p:bgPr>
        <a:solidFill>
          <a:srgbClr val="FCFCFB"/>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8/21/26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1516380"/>
            <a:ext cx="11094415" cy="4985980"/>
          </a:xfrm>
          <a:prstGeom prst="rect">
            <a:avLst/>
          </a:prstGeom>
          <a:noFill/>
        </p:spPr>
        <p:txBody>
          <a:bodyPr wrap="square">
            <a:spAutoFit/>
          </a:bodyPr>
          <a:lstStyle/>
          <a:p>
            <a:pPr algn="l"/>
            <a:r>
              <a:rPr lang="en-US" sz="2800" b="1" dirty="0">
                <a:solidFill>
                  <a:srgbClr val="1A1A1A"/>
                </a:solidFill>
                <a:latin typeface="Helvetica Neue"/>
              </a:rPr>
              <a:t>For pre-season planning:</a:t>
            </a:r>
          </a:p>
          <a:p>
            <a:pPr algn="l"/>
            <a:r>
              <a:rPr lang="en-US" sz="4400" b="1" dirty="0">
                <a:solidFill>
                  <a:srgbClr val="1A1A1A"/>
                </a:solidFill>
                <a:latin typeface="Helvetica Neue"/>
              </a:rPr>
              <a:t>Rank the ground, not the fire.</a:t>
            </a:r>
          </a:p>
          <a:p>
            <a:pPr algn="l">
              <a:spcBef>
                <a:spcPts val="3000"/>
              </a:spcBef>
            </a:pPr>
            <a:r>
              <a:rPr sz="2800" b="0" dirty="0">
                <a:solidFill>
                  <a:srgbClr val="5A5A5A"/>
                </a:solidFill>
                <a:latin typeface="Helvetica Neue"/>
              </a:rPr>
              <a:t>Predicting Region-Season Wildfire Cause Patterns to Target Prevention and Mitigation</a:t>
            </a:r>
          </a:p>
          <a:p>
            <a:pPr algn="l">
              <a:spcBef>
                <a:spcPts val="1800"/>
              </a:spcBef>
            </a:pPr>
            <a:endParaRPr lang="en-US" sz="1500" b="0" dirty="0">
              <a:solidFill>
                <a:srgbClr val="5A5A5A"/>
              </a:solidFill>
              <a:latin typeface="Helvetica Neue"/>
            </a:endParaRPr>
          </a:p>
          <a:p>
            <a:pPr algn="l">
              <a:spcBef>
                <a:spcPts val="1800"/>
              </a:spcBef>
            </a:pPr>
            <a:endParaRPr lang="en-US" sz="1500" dirty="0">
              <a:solidFill>
                <a:srgbClr val="5A5A5A"/>
              </a:solidFill>
              <a:latin typeface="Helvetica Neue"/>
            </a:endParaRPr>
          </a:p>
          <a:p>
            <a:pPr algn="l">
              <a:spcBef>
                <a:spcPts val="1800"/>
              </a:spcBef>
            </a:pPr>
            <a:endParaRPr lang="en-US" sz="1500" b="0" dirty="0">
              <a:solidFill>
                <a:srgbClr val="5A5A5A"/>
              </a:solidFill>
              <a:latin typeface="Helvetica Neue"/>
            </a:endParaRPr>
          </a:p>
          <a:p>
            <a:pPr algn="l">
              <a:spcBef>
                <a:spcPts val="1800"/>
              </a:spcBef>
            </a:pPr>
            <a:r>
              <a:rPr sz="1500" b="0" dirty="0">
                <a:solidFill>
                  <a:srgbClr val="5A5A5A"/>
                </a:solidFill>
                <a:latin typeface="Helvetica Neue"/>
              </a:rPr>
              <a:t>Craig Rudman</a:t>
            </a:r>
            <a:br>
              <a:rPr lang="en-US" sz="1500" b="0" dirty="0">
                <a:solidFill>
                  <a:srgbClr val="5A5A5A"/>
                </a:solidFill>
                <a:latin typeface="Helvetica Neue"/>
              </a:rPr>
            </a:br>
            <a:r>
              <a:rPr sz="1500" b="0" dirty="0">
                <a:solidFill>
                  <a:srgbClr val="5A5A5A"/>
                </a:solidFill>
                <a:latin typeface="Helvetica Neue"/>
              </a:rPr>
              <a:t>MSDS 696 </a:t>
            </a:r>
            <a:r>
              <a:rPr lang="en-US" sz="1500" b="0" dirty="0">
                <a:solidFill>
                  <a:srgbClr val="5A5A5A"/>
                </a:solidFill>
                <a:latin typeface="Helvetica Neue"/>
              </a:rPr>
              <a:t>Data Science </a:t>
            </a:r>
            <a:r>
              <a:rPr sz="1500" b="0" dirty="0">
                <a:solidFill>
                  <a:srgbClr val="5A5A5A"/>
                </a:solidFill>
                <a:latin typeface="Helvetica Neue"/>
              </a:rPr>
              <a:t>Practicum II</a:t>
            </a:r>
            <a:br>
              <a:rPr lang="en-US" sz="1500" b="0" dirty="0">
                <a:solidFill>
                  <a:srgbClr val="5A5A5A"/>
                </a:solidFill>
                <a:latin typeface="Helvetica Neue"/>
              </a:rPr>
            </a:br>
            <a:r>
              <a:rPr lang="en-US" sz="1500" b="0" dirty="0">
                <a:solidFill>
                  <a:srgbClr val="5A5A5A"/>
                </a:solidFill>
                <a:latin typeface="Helvetica Neue"/>
              </a:rPr>
              <a:t>Regis University</a:t>
            </a:r>
            <a:br>
              <a:rPr lang="en-US" sz="1500" b="0" dirty="0">
                <a:solidFill>
                  <a:srgbClr val="5A5A5A"/>
                </a:solidFill>
                <a:latin typeface="Helvetica Neue"/>
              </a:rPr>
            </a:br>
            <a:r>
              <a:rPr lang="en-US" sz="1500" b="0" dirty="0" err="1">
                <a:solidFill>
                  <a:srgbClr val="5A5A5A"/>
                </a:solidFill>
                <a:latin typeface="Helvetica Neue"/>
              </a:rPr>
              <a:t>crudman@regis.edu</a:t>
            </a:r>
            <a:endParaRPr lang="en-US" sz="1500" b="0" dirty="0">
              <a:solidFill>
                <a:srgbClr val="5A5A5A"/>
              </a:solidFill>
              <a:latin typeface="Helvetica Neue"/>
            </a:endParaRPr>
          </a:p>
        </p:txBody>
      </p:sp>
      <p:sp>
        <p:nvSpPr>
          <p:cNvPr id="4" name="TextBox 3">
            <a:extLst>
              <a:ext uri="{FF2B5EF4-FFF2-40B4-BE49-F238E27FC236}">
                <a16:creationId xmlns:a16="http://schemas.microsoft.com/office/drawing/2014/main" id="{0461E10A-AE25-A977-B757-962C3755C840}"/>
              </a:ext>
            </a:extLst>
          </p:cNvPr>
          <p:cNvSpPr txBox="1"/>
          <p:nvPr/>
        </p:nvSpPr>
        <p:spPr>
          <a:xfrm>
            <a:off x="548640" y="4264900"/>
            <a:ext cx="7459394" cy="369332"/>
          </a:xfrm>
          <a:prstGeom prst="rect">
            <a:avLst/>
          </a:prstGeom>
          <a:noFill/>
        </p:spPr>
        <p:txBody>
          <a:bodyPr wrap="square">
            <a:spAutoFit/>
          </a:bodyPr>
          <a:lstStyle/>
          <a:p>
            <a:r>
              <a:rPr lang="en-US" sz="1800" b="0" i="0" dirty="0">
                <a:solidFill>
                  <a:schemeClr val="bg1">
                    <a:lumMod val="50000"/>
                  </a:schemeClr>
                </a:solidFill>
                <a:effectLst/>
                <a:latin typeface="+mn-lt"/>
              </a:rPr>
              <a:t>Source: FPA-FOD 6th ed., 2,271,343 fires, 1992–2020, 179.4M acres.</a:t>
            </a:r>
            <a:endParaRPr lang="en-US" dirty="0">
              <a:solidFill>
                <a:schemeClr val="bg1">
                  <a:lumMod val="50000"/>
                </a:schemeClr>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pic>
        <p:nvPicPr>
          <p:cNvPr id="3" name="Picture 2" descr="w6_seasonality.png"/>
          <p:cNvPicPr>
            <a:picLocks noChangeAspect="1"/>
          </p:cNvPicPr>
          <p:nvPr/>
        </p:nvPicPr>
        <p:blipFill>
          <a:blip r:embed="rId3"/>
          <a:stretch>
            <a:fillRect/>
          </a:stretch>
        </p:blipFill>
        <p:spPr>
          <a:xfrm>
            <a:off x="1574793" y="748481"/>
            <a:ext cx="9042413" cy="5361037"/>
          </a:xfrm>
          <a:prstGeom prst="rect">
            <a:avLst/>
          </a:prstGeom>
        </p:spPr>
      </p:pic>
      <p:sp>
        <p:nvSpPr>
          <p:cNvPr id="2" name="TextBox 1"/>
          <p:cNvSpPr txBox="1"/>
          <p:nvPr/>
        </p:nvSpPr>
        <p:spPr>
          <a:xfrm>
            <a:off x="548640" y="411480"/>
            <a:ext cx="11094415" cy="1234440"/>
          </a:xfrm>
          <a:prstGeom prst="rect">
            <a:avLst/>
          </a:prstGeom>
          <a:noFill/>
        </p:spPr>
        <p:txBody>
          <a:bodyPr wrap="square" anchor="t">
            <a:spAutoFit/>
          </a:bodyPr>
          <a:lstStyle/>
          <a:p>
            <a:pPr algn="l"/>
            <a:r>
              <a:rPr sz="3000" b="1">
                <a:solidFill>
                  <a:srgbClr val="1A1A1A"/>
                </a:solidFill>
                <a:latin typeface="Helvetica Neue"/>
              </a:rPr>
              <a:t>Wildfires are seasonal.</a:t>
            </a:r>
          </a:p>
        </p:txBody>
      </p:sp>
      <p:sp>
        <p:nvSpPr>
          <p:cNvPr id="7" name="TextBox 6">
            <a:extLst>
              <a:ext uri="{FF2B5EF4-FFF2-40B4-BE49-F238E27FC236}">
                <a16:creationId xmlns:a16="http://schemas.microsoft.com/office/drawing/2014/main" id="{347EEB89-2B9C-BB35-F722-2058ADD2CB01}"/>
              </a:ext>
            </a:extLst>
          </p:cNvPr>
          <p:cNvSpPr txBox="1"/>
          <p:nvPr/>
        </p:nvSpPr>
        <p:spPr>
          <a:xfrm>
            <a:off x="1776823" y="6192603"/>
            <a:ext cx="8638352" cy="338554"/>
          </a:xfrm>
          <a:prstGeom prst="rect">
            <a:avLst/>
          </a:prstGeom>
          <a:noFill/>
        </p:spPr>
        <p:txBody>
          <a:bodyPr wrap="square">
            <a:spAutoFit/>
          </a:bodyPr>
          <a:lstStyle/>
          <a:p>
            <a:pPr algn="ctr"/>
            <a:r>
              <a:rPr lang="en-US" sz="1600" b="0" i="1" dirty="0">
                <a:solidFill>
                  <a:schemeClr val="bg1">
                    <a:lumMod val="50000"/>
                  </a:schemeClr>
                </a:solidFill>
                <a:effectLst/>
                <a:latin typeface="+mn-lt"/>
              </a:rPr>
              <a:t>2.3M cleaned fires, 179.4M acres, 29 years; curves scaled to a typical year.</a:t>
            </a:r>
            <a:endParaRPr lang="en-US" sz="1600" i="1" dirty="0">
              <a:solidFill>
                <a:schemeClr val="bg1">
                  <a:lumMod val="50000"/>
                </a:schemeClr>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pic>
        <p:nvPicPr>
          <p:cNvPr id="3" name="Picture 2" descr="w6_cause_map.png"/>
          <p:cNvPicPr>
            <a:picLocks noChangeAspect="1"/>
          </p:cNvPicPr>
          <p:nvPr/>
        </p:nvPicPr>
        <p:blipFill>
          <a:blip r:embed="rId3"/>
          <a:stretch>
            <a:fillRect/>
          </a:stretch>
        </p:blipFill>
        <p:spPr>
          <a:xfrm>
            <a:off x="2233024" y="833359"/>
            <a:ext cx="7725951" cy="5191281"/>
          </a:xfrm>
          <a:prstGeom prst="rect">
            <a:avLst/>
          </a:prstGeom>
        </p:spPr>
      </p:pic>
      <p:sp>
        <p:nvSpPr>
          <p:cNvPr id="2" name="TextBox 1"/>
          <p:cNvSpPr txBox="1"/>
          <p:nvPr/>
        </p:nvSpPr>
        <p:spPr>
          <a:xfrm>
            <a:off x="548640" y="411480"/>
            <a:ext cx="11094415" cy="1234440"/>
          </a:xfrm>
          <a:prstGeom prst="rect">
            <a:avLst/>
          </a:prstGeom>
          <a:noFill/>
        </p:spPr>
        <p:txBody>
          <a:bodyPr wrap="square" anchor="t">
            <a:spAutoFit/>
          </a:bodyPr>
          <a:lstStyle/>
          <a:p>
            <a:pPr algn="l"/>
            <a:r>
              <a:rPr sz="3000" b="1">
                <a:solidFill>
                  <a:srgbClr val="1A1A1A"/>
                </a:solidFill>
                <a:latin typeface="Helvetica Neue"/>
              </a:rPr>
              <a:t>Cause is regional, not national.</a:t>
            </a:r>
          </a:p>
        </p:txBody>
      </p:sp>
      <p:sp>
        <p:nvSpPr>
          <p:cNvPr id="5" name="TextBox 4">
            <a:extLst>
              <a:ext uri="{FF2B5EF4-FFF2-40B4-BE49-F238E27FC236}">
                <a16:creationId xmlns:a16="http://schemas.microsoft.com/office/drawing/2014/main" id="{7826B216-0E53-5547-43EF-8E75F0916A5C}"/>
              </a:ext>
            </a:extLst>
          </p:cNvPr>
          <p:cNvSpPr txBox="1"/>
          <p:nvPr/>
        </p:nvSpPr>
        <p:spPr>
          <a:xfrm>
            <a:off x="1776823" y="6192603"/>
            <a:ext cx="8638352" cy="338554"/>
          </a:xfrm>
          <a:prstGeom prst="rect">
            <a:avLst/>
          </a:prstGeom>
          <a:noFill/>
        </p:spPr>
        <p:txBody>
          <a:bodyPr wrap="square">
            <a:spAutoFit/>
          </a:bodyPr>
          <a:lstStyle/>
          <a:p>
            <a:pPr algn="ctr"/>
            <a:r>
              <a:rPr lang="en-US" sz="1600" b="0" i="1" dirty="0">
                <a:solidFill>
                  <a:schemeClr val="bg1">
                    <a:lumMod val="50000"/>
                  </a:schemeClr>
                </a:solidFill>
                <a:effectLst/>
                <a:latin typeface="+mn-lt"/>
              </a:rPr>
              <a:t>105 Level III ecoregions; 146M resolved acres (missing-cause acres excluded from shading)</a:t>
            </a:r>
            <a:endParaRPr lang="en-US" sz="1600" i="1" dirty="0">
              <a:solidFill>
                <a:schemeClr val="bg1">
                  <a:lumMod val="50000"/>
                </a:schemeClr>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234440"/>
          </a:xfrm>
          <a:prstGeom prst="rect">
            <a:avLst/>
          </a:prstGeom>
          <a:noFill/>
        </p:spPr>
        <p:txBody>
          <a:bodyPr wrap="square" anchor="t">
            <a:spAutoFit/>
          </a:bodyPr>
          <a:lstStyle/>
          <a:p>
            <a:pPr algn="l"/>
            <a:r>
              <a:rPr sz="3000" b="1">
                <a:solidFill>
                  <a:srgbClr val="1A1A1A"/>
                </a:solidFill>
                <a:latin typeface="Helvetica Neue"/>
              </a:rPr>
              <a:t>A region's cause mix is stable enough to forecast.</a:t>
            </a:r>
          </a:p>
        </p:txBody>
      </p:sp>
      <p:pic>
        <p:nvPicPr>
          <p:cNvPr id="3" name="Picture 2"/>
          <p:cNvPicPr>
            <a:picLocks noChangeAspect="1"/>
          </p:cNvPicPr>
          <p:nvPr/>
        </p:nvPicPr>
        <p:blipFill>
          <a:blip r:embed="rId3"/>
          <a:srcRect/>
          <a:stretch/>
        </p:blipFill>
        <p:spPr>
          <a:xfrm>
            <a:off x="548640" y="1720434"/>
            <a:ext cx="11094415" cy="3948306"/>
          </a:xfrm>
          <a:prstGeom prst="rect">
            <a:avLst/>
          </a:prstGeom>
        </p:spPr>
      </p:pic>
      <p:sp>
        <p:nvSpPr>
          <p:cNvPr id="4" name="TextBox 3">
            <a:extLst>
              <a:ext uri="{FF2B5EF4-FFF2-40B4-BE49-F238E27FC236}">
                <a16:creationId xmlns:a16="http://schemas.microsoft.com/office/drawing/2014/main" id="{44E99AB6-31FA-2312-E73A-6A165F8BD343}"/>
              </a:ext>
            </a:extLst>
          </p:cNvPr>
          <p:cNvSpPr txBox="1"/>
          <p:nvPr/>
        </p:nvSpPr>
        <p:spPr>
          <a:xfrm>
            <a:off x="548639" y="6107966"/>
            <a:ext cx="11094415" cy="338554"/>
          </a:xfrm>
          <a:prstGeom prst="rect">
            <a:avLst/>
          </a:prstGeom>
          <a:noFill/>
        </p:spPr>
        <p:txBody>
          <a:bodyPr wrap="square">
            <a:spAutoFit/>
          </a:bodyPr>
          <a:lstStyle/>
          <a:p>
            <a:pPr algn="ctr"/>
            <a:r>
              <a:rPr lang="en-US" sz="1600" b="0" i="1" dirty="0">
                <a:solidFill>
                  <a:schemeClr val="bg1">
                    <a:lumMod val="50000"/>
                  </a:schemeClr>
                </a:solidFill>
                <a:effectLst/>
                <a:latin typeface="+mn-lt"/>
              </a:rPr>
              <a:t>3.9k held-out region-seasons, 2010–2020; 80M held-out acres; trailing-mean k=7, forward-chained, acre-weighted TVD.</a:t>
            </a:r>
            <a:endParaRPr lang="en-US" sz="1600" i="1" dirty="0">
              <a:solidFill>
                <a:schemeClr val="bg1">
                  <a:lumMod val="50000"/>
                </a:schemeClr>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015663"/>
          </a:xfrm>
          <a:prstGeom prst="rect">
            <a:avLst/>
          </a:prstGeom>
          <a:noFill/>
        </p:spPr>
        <p:txBody>
          <a:bodyPr wrap="square" anchor="t">
            <a:spAutoFit/>
          </a:bodyPr>
          <a:lstStyle/>
          <a:p>
            <a:pPr algn="l"/>
            <a:r>
              <a:rPr lang="en-US" sz="3000" b="1" dirty="0">
                <a:solidFill>
                  <a:srgbClr val="1A1A1A"/>
                </a:solidFill>
                <a:latin typeface="Helvetica Neue"/>
              </a:rPr>
              <a:t>For human-cause wildfires</a:t>
            </a:r>
            <a:r>
              <a:rPr sz="3000" b="1" dirty="0">
                <a:solidFill>
                  <a:srgbClr val="1A1A1A"/>
                </a:solidFill>
                <a:latin typeface="Helvetica Neue"/>
              </a:rPr>
              <a:t>, history names the lead cause more often than not.</a:t>
            </a:r>
          </a:p>
        </p:txBody>
      </p:sp>
      <p:pic>
        <p:nvPicPr>
          <p:cNvPr id="3" name="Picture 2" descr="w6_human_tiles.png"/>
          <p:cNvPicPr>
            <a:picLocks noChangeAspect="1"/>
          </p:cNvPicPr>
          <p:nvPr/>
        </p:nvPicPr>
        <p:blipFill>
          <a:blip r:embed="rId3"/>
          <a:stretch>
            <a:fillRect/>
          </a:stretch>
        </p:blipFill>
        <p:spPr>
          <a:xfrm>
            <a:off x="548639" y="1931641"/>
            <a:ext cx="11094415" cy="3948306"/>
          </a:xfrm>
          <a:prstGeom prst="rect">
            <a:avLst/>
          </a:prstGeom>
        </p:spPr>
      </p:pic>
      <p:sp>
        <p:nvSpPr>
          <p:cNvPr id="6" name="TextBox 5">
            <a:extLst>
              <a:ext uri="{FF2B5EF4-FFF2-40B4-BE49-F238E27FC236}">
                <a16:creationId xmlns:a16="http://schemas.microsoft.com/office/drawing/2014/main" id="{3A02CEE0-9D99-E9C7-301A-3AF2984ADBB5}"/>
              </a:ext>
            </a:extLst>
          </p:cNvPr>
          <p:cNvSpPr txBox="1"/>
          <p:nvPr/>
        </p:nvSpPr>
        <p:spPr>
          <a:xfrm>
            <a:off x="548639" y="6107966"/>
            <a:ext cx="11094415" cy="584775"/>
          </a:xfrm>
          <a:prstGeom prst="rect">
            <a:avLst/>
          </a:prstGeom>
          <a:noFill/>
        </p:spPr>
        <p:txBody>
          <a:bodyPr wrap="square">
            <a:spAutoFit/>
          </a:bodyPr>
          <a:lstStyle/>
          <a:p>
            <a:pPr algn="ctr"/>
            <a:r>
              <a:rPr lang="en-US" sz="1600" b="0" i="1" dirty="0">
                <a:solidFill>
                  <a:schemeClr val="bg1">
                    <a:lumMod val="50000"/>
                  </a:schemeClr>
                </a:solidFill>
                <a:effectLst/>
                <a:latin typeface="+mn-lt"/>
              </a:rPr>
              <a:t>3.9k held-out region-seasons (volatility split 3,844), 2010–2020; human-acres denominator; </a:t>
            </a:r>
            <a:br>
              <a:rPr lang="en-US" sz="1600" b="0" i="1" dirty="0">
                <a:solidFill>
                  <a:schemeClr val="bg1">
                    <a:lumMod val="50000"/>
                  </a:schemeClr>
                </a:solidFill>
                <a:effectLst/>
                <a:latin typeface="+mn-lt"/>
              </a:rPr>
            </a:br>
            <a:r>
              <a:rPr lang="en-US" sz="1600" b="0" i="1" dirty="0">
                <a:solidFill>
                  <a:schemeClr val="bg1">
                    <a:lumMod val="50000"/>
                  </a:schemeClr>
                </a:solidFill>
                <a:effectLst/>
                <a:latin typeface="+mn-lt"/>
              </a:rPr>
              <a:t>trailing-mean k=7, forward-chained, acre-weighted TVD.</a:t>
            </a:r>
            <a:endParaRPr lang="en-US" sz="1600" i="1" dirty="0">
              <a:solidFill>
                <a:schemeClr val="bg1">
                  <a:lumMod val="50000"/>
                </a:schemeClr>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553998"/>
          </a:xfrm>
          <a:prstGeom prst="rect">
            <a:avLst/>
          </a:prstGeom>
          <a:noFill/>
        </p:spPr>
        <p:txBody>
          <a:bodyPr wrap="square" anchor="t">
            <a:spAutoFit/>
          </a:bodyPr>
          <a:lstStyle/>
          <a:p>
            <a:pPr algn="l"/>
            <a:r>
              <a:rPr lang="en-US" sz="3000" b="1" dirty="0">
                <a:solidFill>
                  <a:srgbClr val="1A1A1A"/>
                </a:solidFill>
                <a:latin typeface="Helvetica Neue"/>
              </a:rPr>
              <a:t>A learned model made naming the leading cause worse.</a:t>
            </a:r>
          </a:p>
        </p:txBody>
      </p:sp>
      <p:pic>
        <p:nvPicPr>
          <p:cNvPr id="3" name="Picture 2"/>
          <p:cNvPicPr>
            <a:picLocks noChangeAspect="1"/>
          </p:cNvPicPr>
          <p:nvPr/>
        </p:nvPicPr>
        <p:blipFill rotWithShape="1">
          <a:blip r:embed="rId3"/>
          <a:srcRect l="1847" t="2" r="10130" b="-191"/>
          <a:stretch>
            <a:fillRect/>
          </a:stretch>
        </p:blipFill>
        <p:spPr>
          <a:xfrm>
            <a:off x="230943" y="1266092"/>
            <a:ext cx="11729807" cy="4670475"/>
          </a:xfrm>
          <a:prstGeom prst="rect">
            <a:avLst/>
          </a:prstGeom>
        </p:spPr>
      </p:pic>
      <p:sp>
        <p:nvSpPr>
          <p:cNvPr id="4" name="TextBox 3">
            <a:extLst>
              <a:ext uri="{FF2B5EF4-FFF2-40B4-BE49-F238E27FC236}">
                <a16:creationId xmlns:a16="http://schemas.microsoft.com/office/drawing/2014/main" id="{0649C069-F165-DB2C-84CF-270D8E5F9A05}"/>
              </a:ext>
            </a:extLst>
          </p:cNvPr>
          <p:cNvSpPr txBox="1"/>
          <p:nvPr/>
        </p:nvSpPr>
        <p:spPr>
          <a:xfrm>
            <a:off x="548639" y="6107966"/>
            <a:ext cx="11094415" cy="584775"/>
          </a:xfrm>
          <a:prstGeom prst="rect">
            <a:avLst/>
          </a:prstGeom>
          <a:noFill/>
        </p:spPr>
        <p:txBody>
          <a:bodyPr wrap="square">
            <a:spAutoFit/>
          </a:bodyPr>
          <a:lstStyle/>
          <a:p>
            <a:pPr algn="ctr"/>
            <a:r>
              <a:rPr lang="en-US" sz="1600" b="0" i="1" dirty="0">
                <a:solidFill>
                  <a:schemeClr val="bg1">
                    <a:lumMod val="50000"/>
                  </a:schemeClr>
                </a:solidFill>
                <a:effectLst/>
                <a:latin typeface="+mn-lt"/>
              </a:rPr>
              <a:t>3.8k held-out region-seasons, 2010–2020; all rungs on identical cells, features and weights; </a:t>
            </a:r>
            <a:br>
              <a:rPr lang="en-US" sz="1600" b="0" i="1" dirty="0">
                <a:solidFill>
                  <a:schemeClr val="bg1">
                    <a:lumMod val="50000"/>
                  </a:schemeClr>
                </a:solidFill>
                <a:effectLst/>
                <a:latin typeface="+mn-lt"/>
              </a:rPr>
            </a:br>
            <a:r>
              <a:rPr lang="en-US" sz="1600" b="0" i="1" dirty="0">
                <a:solidFill>
                  <a:schemeClr val="bg1">
                    <a:lumMod val="50000"/>
                  </a:schemeClr>
                </a:solidFill>
                <a:effectLst/>
                <a:latin typeface="+mn-lt"/>
              </a:rPr>
              <a:t>ridge and gradient boosting vs. the k=7 floor, acre-weighted TVD and top-1.</a:t>
            </a:r>
            <a:endParaRPr lang="en-US" sz="1600" i="1" dirty="0">
              <a:solidFill>
                <a:schemeClr val="bg1">
                  <a:lumMod val="50000"/>
                </a:schemeClr>
              </a:solidFil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pic>
        <p:nvPicPr>
          <p:cNvPr id="3" name="Picture 2" descr="w6_siting_glance.png"/>
          <p:cNvPicPr>
            <a:picLocks noChangeAspect="1"/>
          </p:cNvPicPr>
          <p:nvPr/>
        </p:nvPicPr>
        <p:blipFill>
          <a:blip r:embed="rId3"/>
          <a:stretch>
            <a:fillRect/>
          </a:stretch>
        </p:blipFill>
        <p:spPr>
          <a:xfrm>
            <a:off x="2422271" y="941365"/>
            <a:ext cx="7347150" cy="5166601"/>
          </a:xfrm>
          <a:prstGeom prst="rect">
            <a:avLst/>
          </a:prstGeom>
        </p:spPr>
      </p:pic>
      <p:sp>
        <p:nvSpPr>
          <p:cNvPr id="2" name="TextBox 1"/>
          <p:cNvSpPr txBox="1"/>
          <p:nvPr/>
        </p:nvSpPr>
        <p:spPr>
          <a:xfrm>
            <a:off x="548640" y="411480"/>
            <a:ext cx="11094415" cy="1234440"/>
          </a:xfrm>
          <a:prstGeom prst="rect">
            <a:avLst/>
          </a:prstGeom>
          <a:noFill/>
        </p:spPr>
        <p:txBody>
          <a:bodyPr wrap="square" anchor="t">
            <a:spAutoFit/>
          </a:bodyPr>
          <a:lstStyle/>
          <a:p>
            <a:pPr algn="l"/>
            <a:r>
              <a:rPr sz="3000" b="1">
                <a:solidFill>
                  <a:srgbClr val="1A1A1A"/>
                </a:solidFill>
                <a:latin typeface="Helvetica Neue"/>
              </a:rPr>
              <a:t>Where fires start is predictable, at the scale where you'd site the work.</a:t>
            </a:r>
          </a:p>
        </p:txBody>
      </p:sp>
      <p:sp>
        <p:nvSpPr>
          <p:cNvPr id="4" name="TextBox 3">
            <a:extLst>
              <a:ext uri="{FF2B5EF4-FFF2-40B4-BE49-F238E27FC236}">
                <a16:creationId xmlns:a16="http://schemas.microsoft.com/office/drawing/2014/main" id="{35CA1104-E9DD-9C66-996E-CF6BAECA1CE7}"/>
              </a:ext>
            </a:extLst>
          </p:cNvPr>
          <p:cNvSpPr txBox="1"/>
          <p:nvPr/>
        </p:nvSpPr>
        <p:spPr>
          <a:xfrm>
            <a:off x="548639" y="6107966"/>
            <a:ext cx="11094415" cy="584775"/>
          </a:xfrm>
          <a:prstGeom prst="rect">
            <a:avLst/>
          </a:prstGeom>
          <a:noFill/>
        </p:spPr>
        <p:txBody>
          <a:bodyPr wrap="square">
            <a:spAutoFit/>
          </a:bodyPr>
          <a:lstStyle/>
          <a:p>
            <a:pPr algn="ctr"/>
            <a:r>
              <a:rPr lang="en-US" sz="1600" b="0" i="1" dirty="0">
                <a:solidFill>
                  <a:schemeClr val="bg1">
                    <a:lumMod val="50000"/>
                  </a:schemeClr>
                </a:solidFill>
                <a:effectLst/>
                <a:latin typeface="+mn-lt"/>
              </a:rPr>
              <a:t>198 res-5 hexes, Klamath Mountains, Summer 2020; </a:t>
            </a:r>
            <a:br>
              <a:rPr lang="en-US" sz="1600" b="0" i="1" dirty="0">
                <a:solidFill>
                  <a:schemeClr val="bg1">
                    <a:lumMod val="50000"/>
                  </a:schemeClr>
                </a:solidFill>
                <a:effectLst/>
                <a:latin typeface="+mn-lt"/>
              </a:rPr>
            </a:br>
            <a:r>
              <a:rPr lang="en-US" sz="1600" b="0" i="1" dirty="0">
                <a:solidFill>
                  <a:schemeClr val="bg1">
                    <a:lumMod val="50000"/>
                  </a:schemeClr>
                </a:solidFill>
                <a:effectLst/>
                <a:latin typeface="+mn-lt"/>
              </a:rPr>
              <a:t>366 observed starts; persistence baseline, forward-chained; one season, not pooled.</a:t>
            </a:r>
            <a:endParaRPr lang="en-US" sz="1600" i="1" dirty="0">
              <a:solidFill>
                <a:schemeClr val="bg1">
                  <a:lumMod val="50000"/>
                </a:schemeClr>
              </a:solidFil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553998"/>
          </a:xfrm>
          <a:prstGeom prst="rect">
            <a:avLst/>
          </a:prstGeom>
          <a:noFill/>
        </p:spPr>
        <p:txBody>
          <a:bodyPr wrap="square" anchor="t">
            <a:spAutoFit/>
          </a:bodyPr>
          <a:lstStyle/>
          <a:p>
            <a:pPr algn="l"/>
            <a:r>
              <a:rPr sz="3000" b="1" dirty="0">
                <a:solidFill>
                  <a:srgbClr val="1A1A1A"/>
                </a:solidFill>
                <a:latin typeface="Helvetica Neue"/>
              </a:rPr>
              <a:t>Almost all the </a:t>
            </a:r>
            <a:r>
              <a:rPr lang="en-US" sz="3000" b="1" dirty="0">
                <a:solidFill>
                  <a:srgbClr val="1A1A1A"/>
                </a:solidFill>
                <a:latin typeface="Helvetica Neue"/>
              </a:rPr>
              <a:t>area burned</a:t>
            </a:r>
            <a:r>
              <a:rPr sz="3000" b="1" dirty="0">
                <a:solidFill>
                  <a:srgbClr val="1A1A1A"/>
                </a:solidFill>
                <a:latin typeface="Helvetica Neue"/>
              </a:rPr>
              <a:t> </a:t>
            </a:r>
            <a:r>
              <a:rPr lang="en-US" sz="3000" b="1" dirty="0">
                <a:solidFill>
                  <a:srgbClr val="1A1A1A"/>
                </a:solidFill>
                <a:latin typeface="Helvetica Neue"/>
              </a:rPr>
              <a:t>is</a:t>
            </a:r>
            <a:r>
              <a:rPr sz="3000" b="1" dirty="0">
                <a:solidFill>
                  <a:srgbClr val="1A1A1A"/>
                </a:solidFill>
                <a:latin typeface="Helvetica Neue"/>
              </a:rPr>
              <a:t> in almost none of the cells.</a:t>
            </a:r>
          </a:p>
        </p:txBody>
      </p:sp>
      <p:pic>
        <p:nvPicPr>
          <p:cNvPr id="3" name="Picture 2" descr="w6_acres_concentration.png"/>
          <p:cNvPicPr>
            <a:picLocks noChangeAspect="1"/>
          </p:cNvPicPr>
          <p:nvPr/>
        </p:nvPicPr>
        <p:blipFill>
          <a:blip r:embed="rId3"/>
          <a:stretch>
            <a:fillRect/>
          </a:stretch>
        </p:blipFill>
        <p:spPr>
          <a:xfrm>
            <a:off x="2508758" y="1323368"/>
            <a:ext cx="6860325" cy="4611947"/>
          </a:xfrm>
          <a:prstGeom prst="rect">
            <a:avLst/>
          </a:prstGeom>
        </p:spPr>
      </p:pic>
      <p:sp>
        <p:nvSpPr>
          <p:cNvPr id="4" name="TextBox 3">
            <a:extLst>
              <a:ext uri="{FF2B5EF4-FFF2-40B4-BE49-F238E27FC236}">
                <a16:creationId xmlns:a16="http://schemas.microsoft.com/office/drawing/2014/main" id="{11E84AB5-C183-16D4-84D0-3BA98C4D5689}"/>
              </a:ext>
            </a:extLst>
          </p:cNvPr>
          <p:cNvSpPr txBox="1"/>
          <p:nvPr/>
        </p:nvSpPr>
        <p:spPr>
          <a:xfrm>
            <a:off x="548639" y="6107966"/>
            <a:ext cx="11094415" cy="338554"/>
          </a:xfrm>
          <a:prstGeom prst="rect">
            <a:avLst/>
          </a:prstGeom>
          <a:noFill/>
        </p:spPr>
        <p:txBody>
          <a:bodyPr wrap="square">
            <a:spAutoFit/>
          </a:bodyPr>
          <a:lstStyle/>
          <a:p>
            <a:pPr algn="ctr"/>
            <a:r>
              <a:rPr lang="en-US" sz="1600" b="0" i="1" dirty="0">
                <a:solidFill>
                  <a:schemeClr val="bg1">
                    <a:lumMod val="50000"/>
                  </a:schemeClr>
                </a:solidFill>
                <a:effectLst/>
                <a:latin typeface="+mn-lt"/>
              </a:rPr>
              <a:t>167.8k burning hex-seasons; zero-burn cells excluded; perimeter-corrected acres; descriptive, no model.</a:t>
            </a:r>
            <a:endParaRPr lang="en-US" sz="1600" i="1" dirty="0">
              <a:solidFill>
                <a:schemeClr val="bg1">
                  <a:lumMod val="50000"/>
                </a:schemeClr>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pic>
        <p:nvPicPr>
          <p:cNvPr id="3" name="Picture 2" descr="w6_branch_deciles.png"/>
          <p:cNvPicPr>
            <a:picLocks noChangeAspect="1"/>
          </p:cNvPicPr>
          <p:nvPr/>
        </p:nvPicPr>
        <p:blipFill>
          <a:blip r:embed="rId3"/>
          <a:stretch>
            <a:fillRect/>
          </a:stretch>
        </p:blipFill>
        <p:spPr>
          <a:xfrm>
            <a:off x="1970247" y="1147521"/>
            <a:ext cx="8251200" cy="4773496"/>
          </a:xfrm>
          <a:prstGeom prst="rect">
            <a:avLst/>
          </a:prstGeom>
        </p:spPr>
      </p:pic>
      <p:sp>
        <p:nvSpPr>
          <p:cNvPr id="2" name="TextBox 1"/>
          <p:cNvSpPr txBox="1"/>
          <p:nvPr/>
        </p:nvSpPr>
        <p:spPr>
          <a:xfrm>
            <a:off x="548640" y="411480"/>
            <a:ext cx="11094415" cy="861774"/>
          </a:xfrm>
          <a:prstGeom prst="rect">
            <a:avLst/>
          </a:prstGeom>
          <a:noFill/>
        </p:spPr>
        <p:txBody>
          <a:bodyPr wrap="square" anchor="t">
            <a:spAutoFit/>
          </a:bodyPr>
          <a:lstStyle/>
          <a:p>
            <a:r>
              <a:rPr lang="en-US" sz="2500" b="1" dirty="0">
                <a:solidFill>
                  <a:srgbClr val="1A1A1A"/>
                </a:solidFill>
                <a:latin typeface="Helvetica Neue"/>
              </a:rPr>
              <a:t>Up to a point, human and natural burned area is equally predictable. Past that point, natural is harder.</a:t>
            </a:r>
          </a:p>
        </p:txBody>
      </p:sp>
      <p:sp>
        <p:nvSpPr>
          <p:cNvPr id="4" name="TextBox 3">
            <a:extLst>
              <a:ext uri="{FF2B5EF4-FFF2-40B4-BE49-F238E27FC236}">
                <a16:creationId xmlns:a16="http://schemas.microsoft.com/office/drawing/2014/main" id="{B368B94B-19D9-33C5-D7B9-7017F8A24D2D}"/>
              </a:ext>
            </a:extLst>
          </p:cNvPr>
          <p:cNvSpPr txBox="1"/>
          <p:nvPr/>
        </p:nvSpPr>
        <p:spPr>
          <a:xfrm>
            <a:off x="548639" y="6107966"/>
            <a:ext cx="11094415" cy="584775"/>
          </a:xfrm>
          <a:prstGeom prst="rect">
            <a:avLst/>
          </a:prstGeom>
          <a:noFill/>
        </p:spPr>
        <p:txBody>
          <a:bodyPr wrap="square">
            <a:spAutoFit/>
          </a:bodyPr>
          <a:lstStyle/>
          <a:p>
            <a:pPr algn="ctr"/>
            <a:r>
              <a:rPr lang="en-US" sz="1600" b="0" i="1" dirty="0">
                <a:solidFill>
                  <a:schemeClr val="bg1">
                    <a:lumMod val="50000"/>
                  </a:schemeClr>
                </a:solidFill>
                <a:effectLst/>
                <a:latin typeface="+mn-lt"/>
              </a:rPr>
              <a:t>18.6k natural vs. 149.9k human burning hex-seasons, ≥1 acre, 2010–2020; </a:t>
            </a:r>
            <a:br>
              <a:rPr lang="en-US" sz="1600" b="0" i="1" dirty="0">
                <a:solidFill>
                  <a:schemeClr val="bg1">
                    <a:lumMod val="50000"/>
                  </a:schemeClr>
                </a:solidFill>
                <a:effectLst/>
                <a:latin typeface="+mn-lt"/>
              </a:rPr>
            </a:br>
            <a:r>
              <a:rPr lang="en-US" sz="1600" b="0" i="1" dirty="0">
                <a:solidFill>
                  <a:schemeClr val="bg1">
                    <a:lumMod val="50000"/>
                  </a:schemeClr>
                </a:solidFill>
                <a:effectLst/>
                <a:latin typeface="+mn-lt"/>
              </a:rPr>
              <a:t>persistence baseline, forward-chained; median log error by decile.</a:t>
            </a:r>
            <a:endParaRPr lang="en-US" sz="1600" i="1" dirty="0">
              <a:solidFill>
                <a:schemeClr val="bg1">
                  <a:lumMod val="50000"/>
                </a:schemeClr>
              </a:solidFill>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pic>
        <p:nvPicPr>
          <p:cNvPr id="3" name="Picture 2" descr="w6_season_skill.png"/>
          <p:cNvPicPr>
            <a:picLocks noChangeAspect="1"/>
          </p:cNvPicPr>
          <p:nvPr/>
        </p:nvPicPr>
        <p:blipFill>
          <a:blip r:embed="rId3"/>
          <a:stretch>
            <a:fillRect/>
          </a:stretch>
        </p:blipFill>
        <p:spPr>
          <a:xfrm>
            <a:off x="2322516" y="1556421"/>
            <a:ext cx="7546968" cy="4450333"/>
          </a:xfrm>
          <a:prstGeom prst="rect">
            <a:avLst/>
          </a:prstGeom>
        </p:spPr>
      </p:pic>
      <p:sp>
        <p:nvSpPr>
          <p:cNvPr id="2" name="TextBox 1"/>
          <p:cNvSpPr txBox="1"/>
          <p:nvPr/>
        </p:nvSpPr>
        <p:spPr>
          <a:xfrm>
            <a:off x="548640" y="411480"/>
            <a:ext cx="11094415" cy="1015663"/>
          </a:xfrm>
          <a:prstGeom prst="rect">
            <a:avLst/>
          </a:prstGeom>
          <a:noFill/>
        </p:spPr>
        <p:txBody>
          <a:bodyPr wrap="square" anchor="t">
            <a:spAutoFit/>
          </a:bodyPr>
          <a:lstStyle/>
          <a:p>
            <a:pPr algn="l"/>
            <a:r>
              <a:rPr sz="3000" b="1" dirty="0">
                <a:solidFill>
                  <a:srgbClr val="1A1A1A"/>
                </a:solidFill>
                <a:latin typeface="Helvetica Neue"/>
              </a:rPr>
              <a:t>Where human fires start is predictable year-round; </a:t>
            </a:r>
            <a:br>
              <a:rPr lang="en-US" sz="3000" b="1" dirty="0">
                <a:solidFill>
                  <a:srgbClr val="1A1A1A"/>
                </a:solidFill>
                <a:latin typeface="Helvetica Neue"/>
              </a:rPr>
            </a:br>
            <a:r>
              <a:rPr sz="3000" b="1" dirty="0">
                <a:solidFill>
                  <a:srgbClr val="1A1A1A"/>
                </a:solidFill>
                <a:latin typeface="Helvetica Neue"/>
              </a:rPr>
              <a:t>natural only in summer.</a:t>
            </a:r>
          </a:p>
        </p:txBody>
      </p:sp>
      <p:sp>
        <p:nvSpPr>
          <p:cNvPr id="4" name="TextBox 3">
            <a:extLst>
              <a:ext uri="{FF2B5EF4-FFF2-40B4-BE49-F238E27FC236}">
                <a16:creationId xmlns:a16="http://schemas.microsoft.com/office/drawing/2014/main" id="{57175F21-06A3-3BA6-84FE-ED79EFAD8763}"/>
              </a:ext>
            </a:extLst>
          </p:cNvPr>
          <p:cNvSpPr txBox="1"/>
          <p:nvPr/>
        </p:nvSpPr>
        <p:spPr>
          <a:xfrm>
            <a:off x="548639" y="6107966"/>
            <a:ext cx="11094415" cy="584775"/>
          </a:xfrm>
          <a:prstGeom prst="rect">
            <a:avLst/>
          </a:prstGeom>
          <a:noFill/>
        </p:spPr>
        <p:txBody>
          <a:bodyPr wrap="square">
            <a:spAutoFit/>
          </a:bodyPr>
          <a:lstStyle/>
          <a:p>
            <a:pPr algn="ctr"/>
            <a:r>
              <a:rPr lang="en-US" sz="1600" b="0" i="1" dirty="0">
                <a:solidFill>
                  <a:schemeClr val="bg1">
                    <a:lumMod val="50000"/>
                  </a:schemeClr>
                </a:solidFill>
                <a:effectLst/>
                <a:latin typeface="+mn-lt"/>
              </a:rPr>
              <a:t>36.2k hexes per plotted point; 398.6k per season across 11 held-out years; </a:t>
            </a:r>
            <a:br>
              <a:rPr lang="en-US" sz="1600" b="0" i="1" dirty="0">
                <a:solidFill>
                  <a:schemeClr val="bg1">
                    <a:lumMod val="50000"/>
                  </a:schemeClr>
                </a:solidFill>
                <a:effectLst/>
                <a:latin typeface="+mn-lt"/>
              </a:rPr>
            </a:br>
            <a:r>
              <a:rPr lang="en-US" sz="1600" b="0" i="1" dirty="0">
                <a:solidFill>
                  <a:schemeClr val="bg1">
                    <a:lumMod val="50000"/>
                  </a:schemeClr>
                </a:solidFill>
                <a:effectLst/>
                <a:latin typeface="+mn-lt"/>
              </a:rPr>
              <a:t>persistence baseline, forward-chained; held-out Spearman, band is min–max.</a:t>
            </a:r>
            <a:endParaRPr lang="en-US" sz="1600" i="1" dirty="0">
              <a:solidFill>
                <a:schemeClr val="bg1">
                  <a:lumMod val="50000"/>
                </a:schemeClr>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861774"/>
          </a:xfrm>
          <a:prstGeom prst="rect">
            <a:avLst/>
          </a:prstGeom>
          <a:noFill/>
        </p:spPr>
        <p:txBody>
          <a:bodyPr wrap="square" anchor="t">
            <a:spAutoFit/>
          </a:bodyPr>
          <a:lstStyle/>
          <a:p>
            <a:pPr algn="l"/>
            <a:r>
              <a:rPr sz="2500" b="1" dirty="0">
                <a:solidFill>
                  <a:srgbClr val="1A1A1A"/>
                </a:solidFill>
                <a:latin typeface="Helvetica Neue"/>
              </a:rPr>
              <a:t>We tried to improve that with drought and fuel, but where fires start is a property of the place, not of the year.</a:t>
            </a:r>
          </a:p>
        </p:txBody>
      </p:sp>
      <p:pic>
        <p:nvPicPr>
          <p:cNvPr id="3" name="Picture 2" descr="w6_ignition_ladder.png"/>
          <p:cNvPicPr>
            <a:picLocks noChangeAspect="1"/>
          </p:cNvPicPr>
          <p:nvPr/>
        </p:nvPicPr>
        <p:blipFill>
          <a:blip r:embed="rId3"/>
          <a:stretch>
            <a:fillRect/>
          </a:stretch>
        </p:blipFill>
        <p:spPr>
          <a:xfrm>
            <a:off x="1362221" y="1557997"/>
            <a:ext cx="9467557" cy="4412887"/>
          </a:xfrm>
          <a:prstGeom prst="rect">
            <a:avLst/>
          </a:prstGeom>
        </p:spPr>
      </p:pic>
      <p:sp>
        <p:nvSpPr>
          <p:cNvPr id="4" name="TextBox 3">
            <a:extLst>
              <a:ext uri="{FF2B5EF4-FFF2-40B4-BE49-F238E27FC236}">
                <a16:creationId xmlns:a16="http://schemas.microsoft.com/office/drawing/2014/main" id="{EC70F1D6-B273-B24D-7E39-C59C845B5B37}"/>
              </a:ext>
            </a:extLst>
          </p:cNvPr>
          <p:cNvSpPr txBox="1"/>
          <p:nvPr/>
        </p:nvSpPr>
        <p:spPr>
          <a:xfrm>
            <a:off x="548639" y="6107966"/>
            <a:ext cx="11094415" cy="584775"/>
          </a:xfrm>
          <a:prstGeom prst="rect">
            <a:avLst/>
          </a:prstGeom>
          <a:noFill/>
        </p:spPr>
        <p:txBody>
          <a:bodyPr wrap="square">
            <a:spAutoFit/>
          </a:bodyPr>
          <a:lstStyle/>
          <a:p>
            <a:pPr algn="ctr"/>
            <a:r>
              <a:rPr lang="en-US" sz="1600" b="0" i="1" dirty="0">
                <a:solidFill>
                  <a:schemeClr val="bg1">
                    <a:lumMod val="50000"/>
                  </a:schemeClr>
                </a:solidFill>
                <a:effectLst/>
                <a:latin typeface="+mn-lt"/>
              </a:rPr>
              <a:t>29.3k held-out hex-seasons, six forest ecoregions, Summers 2010–2020; </a:t>
            </a:r>
            <a:br>
              <a:rPr lang="en-US" sz="1600" b="0" i="1" dirty="0">
                <a:solidFill>
                  <a:schemeClr val="bg1">
                    <a:lumMod val="50000"/>
                  </a:schemeClr>
                </a:solidFill>
                <a:effectLst/>
                <a:latin typeface="+mn-lt"/>
              </a:rPr>
            </a:br>
            <a:r>
              <a:rPr lang="en-US" sz="1600" b="0" i="1" dirty="0">
                <a:solidFill>
                  <a:schemeClr val="bg1">
                    <a:lumMod val="50000"/>
                  </a:schemeClr>
                </a:solidFill>
                <a:effectLst/>
                <a:latin typeface="+mn-lt"/>
              </a:rPr>
              <a:t>covariate ablation over the persistence floor, covariates lagged pre-season; held-out Spearman.</a:t>
            </a:r>
            <a:endParaRPr lang="en-US" sz="1600" i="1" dirty="0">
              <a:solidFill>
                <a:schemeClr val="bg1">
                  <a:lumMod val="50000"/>
                </a:schemeClr>
              </a:solidFil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234440"/>
          </a:xfrm>
          <a:prstGeom prst="rect">
            <a:avLst/>
          </a:prstGeom>
          <a:noFill/>
        </p:spPr>
        <p:txBody>
          <a:bodyPr wrap="square" anchor="t">
            <a:spAutoFit/>
          </a:bodyPr>
          <a:lstStyle/>
          <a:p>
            <a:pPr algn="l"/>
            <a:r>
              <a:rPr sz="3000" b="1" dirty="0">
                <a:solidFill>
                  <a:srgbClr val="1A1A1A"/>
                </a:solidFill>
                <a:latin typeface="Helvetica Neue"/>
              </a:rPr>
              <a:t>The same data does predict how much burns.</a:t>
            </a:r>
          </a:p>
        </p:txBody>
      </p:sp>
      <p:pic>
        <p:nvPicPr>
          <p:cNvPr id="3" name="Picture 2" descr="w6_acres_ladder.png"/>
          <p:cNvPicPr>
            <a:picLocks noChangeAspect="1"/>
          </p:cNvPicPr>
          <p:nvPr/>
        </p:nvPicPr>
        <p:blipFill>
          <a:blip r:embed="rId3"/>
          <a:stretch>
            <a:fillRect/>
          </a:stretch>
        </p:blipFill>
        <p:spPr>
          <a:xfrm>
            <a:off x="1479575" y="1547446"/>
            <a:ext cx="9232543" cy="4238751"/>
          </a:xfrm>
          <a:prstGeom prst="rect">
            <a:avLst/>
          </a:prstGeom>
        </p:spPr>
      </p:pic>
      <p:sp>
        <p:nvSpPr>
          <p:cNvPr id="4" name="TextBox 3">
            <a:extLst>
              <a:ext uri="{FF2B5EF4-FFF2-40B4-BE49-F238E27FC236}">
                <a16:creationId xmlns:a16="http://schemas.microsoft.com/office/drawing/2014/main" id="{CFBBF8FE-FF70-5617-7AD8-6598BC984D10}"/>
              </a:ext>
            </a:extLst>
          </p:cNvPr>
          <p:cNvSpPr txBox="1"/>
          <p:nvPr/>
        </p:nvSpPr>
        <p:spPr>
          <a:xfrm>
            <a:off x="548639" y="6107966"/>
            <a:ext cx="11094415" cy="584775"/>
          </a:xfrm>
          <a:prstGeom prst="rect">
            <a:avLst/>
          </a:prstGeom>
          <a:noFill/>
        </p:spPr>
        <p:txBody>
          <a:bodyPr wrap="square">
            <a:spAutoFit/>
          </a:bodyPr>
          <a:lstStyle/>
          <a:p>
            <a:pPr algn="ctr"/>
            <a:r>
              <a:rPr lang="en-US" sz="1600" b="0" i="1" dirty="0">
                <a:solidFill>
                  <a:schemeClr val="bg1">
                    <a:lumMod val="50000"/>
                  </a:schemeClr>
                </a:solidFill>
                <a:effectLst/>
                <a:latin typeface="+mn-lt"/>
              </a:rPr>
              <a:t>7.8k burning hex-seasons, Summers 2010–2020;</a:t>
            </a:r>
            <a:br>
              <a:rPr lang="en-US" sz="1600" b="0" i="1" dirty="0">
                <a:solidFill>
                  <a:schemeClr val="bg1">
                    <a:lumMod val="50000"/>
                  </a:schemeClr>
                </a:solidFill>
                <a:effectLst/>
                <a:latin typeface="+mn-lt"/>
              </a:rPr>
            </a:br>
            <a:r>
              <a:rPr lang="en-US" sz="1600" b="0" i="1" dirty="0">
                <a:solidFill>
                  <a:schemeClr val="bg1">
                    <a:lumMod val="50000"/>
                  </a:schemeClr>
                </a:solidFill>
                <a:effectLst/>
                <a:latin typeface="+mn-lt"/>
              </a:rPr>
              <a:t>burn-conditional baseline, covariate ablation, validated across five split years; held-out Spearman.</a:t>
            </a:r>
            <a:endParaRPr lang="en-US" sz="1600" i="1" dirty="0">
              <a:solidFill>
                <a:schemeClr val="bg1">
                  <a:lumMod val="50000"/>
                </a:schemeClr>
              </a:solidFil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553998"/>
          </a:xfrm>
          <a:prstGeom prst="rect">
            <a:avLst/>
          </a:prstGeom>
          <a:noFill/>
        </p:spPr>
        <p:txBody>
          <a:bodyPr wrap="square" anchor="t">
            <a:spAutoFit/>
          </a:bodyPr>
          <a:lstStyle/>
          <a:p>
            <a:pPr algn="l"/>
            <a:r>
              <a:rPr sz="3000" b="1" dirty="0">
                <a:solidFill>
                  <a:srgbClr val="1A1A1A"/>
                </a:solidFill>
                <a:latin typeface="Helvetica Neue"/>
              </a:rPr>
              <a:t>But the gain </a:t>
            </a:r>
            <a:r>
              <a:rPr lang="en-US" sz="3000" b="1" dirty="0">
                <a:solidFill>
                  <a:srgbClr val="1A1A1A"/>
                </a:solidFill>
                <a:latin typeface="Helvetica Neue"/>
              </a:rPr>
              <a:t>misses where we need it most.</a:t>
            </a:r>
            <a:endParaRPr sz="3000" b="1" dirty="0">
              <a:solidFill>
                <a:srgbClr val="1A1A1A"/>
              </a:solidFill>
              <a:latin typeface="Helvetica Neue"/>
            </a:endParaRPr>
          </a:p>
        </p:txBody>
      </p:sp>
      <p:pic>
        <p:nvPicPr>
          <p:cNvPr id="3" name="Picture 2" descr="w6_gain_landing.png"/>
          <p:cNvPicPr>
            <a:picLocks noChangeAspect="1"/>
          </p:cNvPicPr>
          <p:nvPr/>
        </p:nvPicPr>
        <p:blipFill>
          <a:blip r:embed="rId3"/>
          <a:stretch>
            <a:fillRect/>
          </a:stretch>
        </p:blipFill>
        <p:spPr>
          <a:xfrm>
            <a:off x="2338784" y="1041390"/>
            <a:ext cx="7114705" cy="4775219"/>
          </a:xfrm>
          <a:prstGeom prst="rect">
            <a:avLst/>
          </a:prstGeom>
        </p:spPr>
      </p:pic>
      <p:sp>
        <p:nvSpPr>
          <p:cNvPr id="4" name="TextBox 3">
            <a:extLst>
              <a:ext uri="{FF2B5EF4-FFF2-40B4-BE49-F238E27FC236}">
                <a16:creationId xmlns:a16="http://schemas.microsoft.com/office/drawing/2014/main" id="{2FDCEA1F-CC5A-7549-CAF9-1D85C3B55EC7}"/>
              </a:ext>
            </a:extLst>
          </p:cNvPr>
          <p:cNvSpPr txBox="1"/>
          <p:nvPr/>
        </p:nvSpPr>
        <p:spPr>
          <a:xfrm>
            <a:off x="548639" y="6107966"/>
            <a:ext cx="11094415" cy="338554"/>
          </a:xfrm>
          <a:prstGeom prst="rect">
            <a:avLst/>
          </a:prstGeom>
          <a:noFill/>
        </p:spPr>
        <p:txBody>
          <a:bodyPr wrap="square">
            <a:spAutoFit/>
          </a:bodyPr>
          <a:lstStyle/>
          <a:p>
            <a:pPr algn="ctr"/>
            <a:r>
              <a:rPr lang="en-US" sz="1600" b="0" i="1" dirty="0">
                <a:solidFill>
                  <a:schemeClr val="bg1">
                    <a:lumMod val="50000"/>
                  </a:schemeClr>
                </a:solidFill>
                <a:effectLst/>
                <a:latin typeface="+mn-lt"/>
              </a:rPr>
              <a:t>7.8k held-out hex-seasons, 780 per decile; same cells and model as slide 11; median log error by decile.</a:t>
            </a:r>
            <a:endParaRPr lang="en-US" sz="1600" i="1" dirty="0">
              <a:solidFill>
                <a:schemeClr val="bg1">
                  <a:lumMod val="50000"/>
                </a:schemeClr>
              </a:solidFil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pic>
        <p:nvPicPr>
          <p:cNvPr id="3" name="Picture 2" descr="w6_grain_parallel.png"/>
          <p:cNvPicPr>
            <a:picLocks noChangeAspect="1"/>
          </p:cNvPicPr>
          <p:nvPr/>
        </p:nvPicPr>
        <p:blipFill>
          <a:blip r:embed="rId3"/>
          <a:stretch>
            <a:fillRect/>
          </a:stretch>
        </p:blipFill>
        <p:spPr>
          <a:xfrm>
            <a:off x="975886" y="1188719"/>
            <a:ext cx="10240228" cy="5081451"/>
          </a:xfrm>
          <a:prstGeom prst="rect">
            <a:avLst/>
          </a:prstGeom>
        </p:spPr>
      </p:pic>
      <p:sp>
        <p:nvSpPr>
          <p:cNvPr id="2" name="TextBox 1"/>
          <p:cNvSpPr txBox="1"/>
          <p:nvPr/>
        </p:nvSpPr>
        <p:spPr>
          <a:xfrm>
            <a:off x="548640" y="411480"/>
            <a:ext cx="11094415" cy="1015663"/>
          </a:xfrm>
          <a:prstGeom prst="rect">
            <a:avLst/>
          </a:prstGeom>
          <a:noFill/>
        </p:spPr>
        <p:txBody>
          <a:bodyPr wrap="square" anchor="t">
            <a:spAutoFit/>
          </a:bodyPr>
          <a:lstStyle/>
          <a:p>
            <a:pPr algn="l"/>
            <a:r>
              <a:rPr lang="en-US" sz="3000" b="1" dirty="0">
                <a:solidFill>
                  <a:srgbClr val="1A1A1A"/>
                </a:solidFill>
                <a:latin typeface="Helvetica Neue"/>
              </a:rPr>
              <a:t>Predicting where</a:t>
            </a:r>
            <a:r>
              <a:rPr sz="3000" b="1" dirty="0">
                <a:solidFill>
                  <a:srgbClr val="1A1A1A"/>
                </a:solidFill>
                <a:latin typeface="Helvetica Neue"/>
              </a:rPr>
              <a:t> </a:t>
            </a:r>
            <a:r>
              <a:rPr lang="en-US" sz="3000" b="1" dirty="0">
                <a:solidFill>
                  <a:srgbClr val="1A1A1A"/>
                </a:solidFill>
                <a:latin typeface="Helvetica Neue"/>
              </a:rPr>
              <a:t>fires start </a:t>
            </a:r>
            <a:r>
              <a:rPr sz="3000" b="1" dirty="0">
                <a:solidFill>
                  <a:srgbClr val="1A1A1A"/>
                </a:solidFill>
                <a:latin typeface="Helvetica Neue"/>
              </a:rPr>
              <a:t>needed </a:t>
            </a:r>
            <a:r>
              <a:rPr lang="en-US" sz="3000" b="1" dirty="0">
                <a:solidFill>
                  <a:srgbClr val="1A1A1A"/>
                </a:solidFill>
                <a:latin typeface="Helvetica Neue"/>
              </a:rPr>
              <a:t>a finer spatial scale</a:t>
            </a:r>
            <a:r>
              <a:rPr sz="3000" b="1" dirty="0">
                <a:solidFill>
                  <a:srgbClr val="1A1A1A"/>
                </a:solidFill>
                <a:latin typeface="Helvetica Neue"/>
              </a:rPr>
              <a:t>. </a:t>
            </a:r>
            <a:r>
              <a:rPr lang="en-US" sz="3000" b="1" dirty="0">
                <a:solidFill>
                  <a:srgbClr val="1A1A1A"/>
                </a:solidFill>
                <a:latin typeface="Helvetica Neue"/>
              </a:rPr>
              <a:t>Predicting size may need a shorter time scale.</a:t>
            </a:r>
            <a:endParaRPr sz="3000" b="1" dirty="0">
              <a:solidFill>
                <a:srgbClr val="1A1A1A"/>
              </a:solidFill>
              <a:latin typeface="Helvetica Neue"/>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234440"/>
          </a:xfrm>
          <a:prstGeom prst="rect">
            <a:avLst/>
          </a:prstGeom>
          <a:noFill/>
        </p:spPr>
        <p:txBody>
          <a:bodyPr wrap="square" anchor="t">
            <a:spAutoFit/>
          </a:bodyPr>
          <a:lstStyle/>
          <a:p>
            <a:pPr algn="l"/>
            <a:r>
              <a:rPr sz="3000" b="1">
                <a:solidFill>
                  <a:srgbClr val="1A1A1A"/>
                </a:solidFill>
                <a:latin typeface="Helvetica Neue"/>
              </a:rPr>
              <a:t>One ignition is enough.</a:t>
            </a:r>
          </a:p>
        </p:txBody>
      </p:sp>
      <p:pic>
        <p:nvPicPr>
          <p:cNvPr id="3" name="Picture 2" descr="w6_one_is_enough.png"/>
          <p:cNvPicPr>
            <a:picLocks noChangeAspect="1"/>
          </p:cNvPicPr>
          <p:nvPr/>
        </p:nvPicPr>
        <p:blipFill>
          <a:blip r:embed="rId3"/>
          <a:stretch>
            <a:fillRect/>
          </a:stretch>
        </p:blipFill>
        <p:spPr>
          <a:xfrm>
            <a:off x="729238" y="1331859"/>
            <a:ext cx="10733217" cy="4663440"/>
          </a:xfrm>
          <a:prstGeom prst="rect">
            <a:avLst/>
          </a:prstGeom>
        </p:spPr>
      </p:pic>
      <p:sp>
        <p:nvSpPr>
          <p:cNvPr id="4" name="TextBox 3">
            <a:extLst>
              <a:ext uri="{FF2B5EF4-FFF2-40B4-BE49-F238E27FC236}">
                <a16:creationId xmlns:a16="http://schemas.microsoft.com/office/drawing/2014/main" id="{2D16ED9A-101B-8A18-CED8-053BDABFAEDE}"/>
              </a:ext>
            </a:extLst>
          </p:cNvPr>
          <p:cNvSpPr txBox="1"/>
          <p:nvPr/>
        </p:nvSpPr>
        <p:spPr>
          <a:xfrm>
            <a:off x="548639" y="6107966"/>
            <a:ext cx="11094415" cy="338554"/>
          </a:xfrm>
          <a:prstGeom prst="rect">
            <a:avLst/>
          </a:prstGeom>
          <a:noFill/>
        </p:spPr>
        <p:txBody>
          <a:bodyPr wrap="square">
            <a:spAutoFit/>
          </a:bodyPr>
          <a:lstStyle/>
          <a:p>
            <a:pPr algn="ctr"/>
            <a:r>
              <a:rPr lang="en-US" sz="1600" b="0" i="1" dirty="0">
                <a:solidFill>
                  <a:schemeClr val="bg1">
                    <a:lumMod val="50000"/>
                  </a:schemeClr>
                </a:solidFill>
                <a:effectLst/>
                <a:latin typeface="+mn-lt"/>
              </a:rPr>
              <a:t>2.8k large-fire cells (≥1k acres), held-out years, Summer, natural; descriptive, no model</a:t>
            </a:r>
            <a:endParaRPr lang="en-US" sz="1600" i="1" dirty="0">
              <a:solidFill>
                <a:schemeClr val="bg1">
                  <a:lumMod val="50000"/>
                </a:schemeClr>
              </a:solidFil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234440"/>
          </a:xfrm>
          <a:prstGeom prst="rect">
            <a:avLst/>
          </a:prstGeom>
          <a:noFill/>
        </p:spPr>
        <p:txBody>
          <a:bodyPr wrap="square" anchor="t">
            <a:spAutoFit/>
          </a:bodyPr>
          <a:lstStyle/>
          <a:p>
            <a:pPr algn="l"/>
            <a:r>
              <a:rPr sz="2500" b="1">
                <a:solidFill>
                  <a:srgbClr val="1A1A1A"/>
                </a:solidFill>
                <a:latin typeface="Helvetica Neue"/>
              </a:rPr>
              <a:t>Nearly a fifth of burned acres have no specific cause — and that gap is itself forecastable.</a:t>
            </a:r>
          </a:p>
        </p:txBody>
      </p:sp>
      <p:pic>
        <p:nvPicPr>
          <p:cNvPr id="3" name="Picture 2" descr="w6_unknown_triage.png"/>
          <p:cNvPicPr>
            <a:picLocks noChangeAspect="1"/>
          </p:cNvPicPr>
          <p:nvPr/>
        </p:nvPicPr>
        <p:blipFill>
          <a:blip r:embed="rId3"/>
          <a:stretch>
            <a:fillRect/>
          </a:stretch>
        </p:blipFill>
        <p:spPr>
          <a:xfrm>
            <a:off x="465305" y="1645920"/>
            <a:ext cx="11726695" cy="4189363"/>
          </a:xfrm>
          <a:prstGeom prst="rect">
            <a:avLst/>
          </a:prstGeom>
        </p:spPr>
      </p:pic>
      <p:sp>
        <p:nvSpPr>
          <p:cNvPr id="4" name="TextBox 3">
            <a:extLst>
              <a:ext uri="{FF2B5EF4-FFF2-40B4-BE49-F238E27FC236}">
                <a16:creationId xmlns:a16="http://schemas.microsoft.com/office/drawing/2014/main" id="{2F3352B4-5D6F-88B8-8DF5-63C60FC68608}"/>
              </a:ext>
            </a:extLst>
          </p:cNvPr>
          <p:cNvSpPr txBox="1"/>
          <p:nvPr/>
        </p:nvSpPr>
        <p:spPr>
          <a:xfrm>
            <a:off x="548639" y="6107966"/>
            <a:ext cx="11094415" cy="584775"/>
          </a:xfrm>
          <a:prstGeom prst="rect">
            <a:avLst/>
          </a:prstGeom>
          <a:noFill/>
        </p:spPr>
        <p:txBody>
          <a:bodyPr wrap="square">
            <a:spAutoFit/>
          </a:bodyPr>
          <a:lstStyle/>
          <a:p>
            <a:pPr algn="ctr"/>
            <a:r>
              <a:rPr lang="en-US" sz="1600" i="1" dirty="0">
                <a:solidFill>
                  <a:schemeClr val="bg1">
                    <a:lumMod val="50000"/>
                  </a:schemeClr>
                </a:solidFill>
              </a:rPr>
              <a:t>393 region-season pairs from 3.9k held-out region-seasons, </a:t>
            </a:r>
            <a:r>
              <a:rPr lang="en-US" sz="1600" b="0" i="1" dirty="0">
                <a:solidFill>
                  <a:schemeClr val="bg1">
                    <a:lumMod val="50000"/>
                  </a:schemeClr>
                </a:solidFill>
                <a:effectLst/>
                <a:latin typeface="+mn-lt"/>
              </a:rPr>
              <a:t>2010–2020; </a:t>
            </a:r>
            <a:br>
              <a:rPr lang="en-US" sz="1600" b="0" i="1" dirty="0">
                <a:solidFill>
                  <a:schemeClr val="bg1">
                    <a:lumMod val="50000"/>
                  </a:schemeClr>
                </a:solidFill>
                <a:effectLst/>
                <a:latin typeface="+mn-lt"/>
              </a:rPr>
            </a:br>
            <a:r>
              <a:rPr lang="en-US" sz="1600" b="0" i="1" dirty="0">
                <a:solidFill>
                  <a:schemeClr val="bg1">
                    <a:lumMod val="50000"/>
                  </a:schemeClr>
                </a:solidFill>
                <a:effectLst/>
                <a:latin typeface="+mn-lt"/>
              </a:rPr>
              <a:t>trailing-mean k=7, forward-chained; acre-weighted MAE 0.167 vs. global mean 0.240; top 8 shown, ranked by predicted acres.</a:t>
            </a:r>
            <a:endParaRPr lang="en-US" sz="1600" i="1" dirty="0">
              <a:solidFill>
                <a:schemeClr val="bg1">
                  <a:lumMod val="50000"/>
                </a:schemeClr>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411480"/>
            <a:ext cx="11094415" cy="861774"/>
          </a:xfrm>
          <a:prstGeom prst="rect">
            <a:avLst/>
          </a:prstGeom>
          <a:noFill/>
        </p:spPr>
        <p:txBody>
          <a:bodyPr wrap="square" anchor="t">
            <a:spAutoFit/>
          </a:bodyPr>
          <a:lstStyle/>
          <a:p>
            <a:pPr algn="l"/>
            <a:r>
              <a:rPr sz="2500" b="1" dirty="0">
                <a:solidFill>
                  <a:srgbClr val="1A1A1A"/>
                </a:solidFill>
                <a:latin typeface="Helvetica Neue"/>
              </a:rPr>
              <a:t>We started with one record of every U.S. wildfire, then layered on what it could not see.</a:t>
            </a:r>
          </a:p>
        </p:txBody>
      </p:sp>
      <p:pic>
        <p:nvPicPr>
          <p:cNvPr id="3" name="Picture 2" descr="w6_data_sources.png"/>
          <p:cNvPicPr>
            <a:picLocks noChangeAspect="1"/>
          </p:cNvPicPr>
          <p:nvPr/>
        </p:nvPicPr>
        <p:blipFill>
          <a:blip r:embed="rId3"/>
          <a:stretch>
            <a:fillRect/>
          </a:stretch>
        </p:blipFill>
        <p:spPr>
          <a:xfrm>
            <a:off x="1083212" y="1409350"/>
            <a:ext cx="9332827" cy="503717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861774"/>
          </a:xfrm>
          <a:prstGeom prst="rect">
            <a:avLst/>
          </a:prstGeom>
          <a:noFill/>
        </p:spPr>
        <p:txBody>
          <a:bodyPr wrap="square" anchor="t">
            <a:spAutoFit/>
          </a:bodyPr>
          <a:lstStyle/>
          <a:p>
            <a:pPr algn="l"/>
            <a:r>
              <a:rPr sz="2500" b="1" dirty="0">
                <a:solidFill>
                  <a:srgbClr val="1A1A1A"/>
                </a:solidFill>
                <a:latin typeface="Helvetica Neue"/>
              </a:rPr>
              <a:t>Target causes by region. Site the </a:t>
            </a:r>
            <a:r>
              <a:rPr lang="en-US" sz="2500" b="1" dirty="0">
                <a:solidFill>
                  <a:srgbClr val="1A1A1A"/>
                </a:solidFill>
                <a:latin typeface="Helvetica Neue"/>
              </a:rPr>
              <a:t>pre-season </a:t>
            </a:r>
            <a:r>
              <a:rPr sz="2500" b="1" dirty="0">
                <a:solidFill>
                  <a:srgbClr val="1A1A1A"/>
                </a:solidFill>
                <a:latin typeface="Helvetica Neue"/>
              </a:rPr>
              <a:t>work by ignition. Fix the record where it says neither.</a:t>
            </a:r>
          </a:p>
        </p:txBody>
      </p:sp>
      <p:pic>
        <p:nvPicPr>
          <p:cNvPr id="3" name="Picture 2" descr="w6_recommendation.png"/>
          <p:cNvPicPr>
            <a:picLocks noChangeAspect="1"/>
          </p:cNvPicPr>
          <p:nvPr/>
        </p:nvPicPr>
        <p:blipFill>
          <a:blip r:embed="rId3"/>
          <a:stretch>
            <a:fillRect/>
          </a:stretch>
        </p:blipFill>
        <p:spPr>
          <a:xfrm>
            <a:off x="1083212" y="1409350"/>
            <a:ext cx="9332827" cy="5037170"/>
          </a:xfrm>
          <a:prstGeom prst="rect">
            <a:avLst/>
          </a:prstGeom>
        </p:spPr>
      </p:pic>
      <p:sp>
        <p:nvSpPr>
          <p:cNvPr id="4" name="TextBox 3">
            <a:extLst>
              <a:ext uri="{FF2B5EF4-FFF2-40B4-BE49-F238E27FC236}">
                <a16:creationId xmlns:a16="http://schemas.microsoft.com/office/drawing/2014/main" id="{D0EB9E00-43ED-5DE7-8FD5-0D781696F061}"/>
              </a:ext>
            </a:extLst>
          </p:cNvPr>
          <p:cNvSpPr txBox="1"/>
          <p:nvPr/>
        </p:nvSpPr>
        <p:spPr>
          <a:xfrm>
            <a:off x="548639" y="6107966"/>
            <a:ext cx="11094415" cy="584775"/>
          </a:xfrm>
          <a:prstGeom prst="rect">
            <a:avLst/>
          </a:prstGeom>
          <a:noFill/>
        </p:spPr>
        <p:txBody>
          <a:bodyPr wrap="square">
            <a:spAutoFit/>
          </a:bodyPr>
          <a:lstStyle/>
          <a:p>
            <a:pPr algn="ctr"/>
            <a:r>
              <a:rPr lang="en-US" sz="1600" i="1" dirty="0">
                <a:solidFill>
                  <a:schemeClr val="bg1">
                    <a:lumMod val="50000"/>
                  </a:schemeClr>
                </a:solidFill>
              </a:rPr>
              <a:t>No new computation; composes three branch products. </a:t>
            </a:r>
            <a:br>
              <a:rPr lang="en-US" sz="1600" i="1" dirty="0">
                <a:solidFill>
                  <a:schemeClr val="bg1">
                    <a:lumMod val="50000"/>
                  </a:schemeClr>
                </a:solidFill>
              </a:rPr>
            </a:br>
            <a:r>
              <a:rPr lang="en-US" sz="1600" i="1" dirty="0">
                <a:solidFill>
                  <a:schemeClr val="bg1">
                    <a:lumMod val="50000"/>
                  </a:schemeClr>
                </a:solidFill>
              </a:rPr>
              <a:t>Tier 1 × Human, top-1 0.46 on 3.9k joined held-out cells.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50940"/>
            <a:ext cx="11094415" cy="2498120"/>
          </a:xfrm>
          <a:prstGeom prst="rect">
            <a:avLst/>
          </a:prstGeom>
          <a:noFill/>
        </p:spPr>
        <p:txBody>
          <a:bodyPr wrap="square" anchor="ctr">
            <a:spAutoFit/>
          </a:bodyPr>
          <a:lstStyle/>
          <a:p>
            <a:pPr algn="l"/>
            <a:r>
              <a:rPr lang="en-US" sz="4800" b="1" dirty="0">
                <a:solidFill>
                  <a:srgbClr val="1A1A1A"/>
                </a:solidFill>
                <a:latin typeface="Helvetica Neue"/>
              </a:rPr>
              <a:t>Rank the ground, not the fire.</a:t>
            </a:r>
          </a:p>
          <a:p>
            <a:pPr algn="l">
              <a:spcBef>
                <a:spcPts val="3400"/>
              </a:spcBef>
            </a:pPr>
            <a:r>
              <a:rPr lang="en-US" sz="4000" b="0" dirty="0">
                <a:solidFill>
                  <a:srgbClr val="E8622E"/>
                </a:solidFill>
                <a:latin typeface="Helvetica Neue"/>
              </a:rPr>
              <a:t>Where fires start is predictable. </a:t>
            </a:r>
            <a:br>
              <a:rPr lang="en-US" sz="4000" b="0" dirty="0">
                <a:solidFill>
                  <a:srgbClr val="E8622E"/>
                </a:solidFill>
                <a:latin typeface="Helvetica Neue"/>
              </a:rPr>
            </a:br>
            <a:r>
              <a:rPr lang="en-US" sz="4000" b="0" dirty="0">
                <a:solidFill>
                  <a:srgbClr val="E8622E"/>
                </a:solidFill>
                <a:latin typeface="Helvetica Neue"/>
              </a:rPr>
              <a:t>How big they get, before the season, is not.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6915</TotalTime>
  <Words>2069</Words>
  <Application>Microsoft Macintosh PowerPoint</Application>
  <PresentationFormat>Widescreen</PresentationFormat>
  <Paragraphs>101</Paragraphs>
  <Slides>19</Slides>
  <Notes>19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19</vt:i4>
      </vt:variant>
    </vt:vector>
  </HeadingPairs>
  <TitlesOfParts>
    <vt:vector size="23" baseType="lpstr">
      <vt:lpstr>Arial</vt:lpstr>
      <vt:lpstr>Calibri</vt:lpstr>
      <vt:lpstr>Helvetica Neue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Rudman, Craig E</cp:lastModifiedBy>
  <cp:revision>24</cp:revision>
  <dcterms:created xsi:type="dcterms:W3CDTF">2013-01-27T09:14:16Z</dcterms:created>
  <dcterms:modified xsi:type="dcterms:W3CDTF">2026-08-21T20:32:03Z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a6de1d5b-8b4b-4e4e-a8a1-d2976158103f_Enabled">
    <vt:lpwstr>true</vt:lpwstr>
  </property>
  <property fmtid="{D5CDD505-2E9C-101B-9397-08002B2CF9AE}" pid="3" name="MSIP_Label_a6de1d5b-8b4b-4e4e-a8a1-d2976158103f_SetDate">
    <vt:lpwstr>2026-08-12T02:20:59Z</vt:lpwstr>
  </property>
  <property fmtid="{D5CDD505-2E9C-101B-9397-08002B2CF9AE}" pid="4" name="MSIP_Label_a6de1d5b-8b4b-4e4e-a8a1-d2976158103f_Method">
    <vt:lpwstr>Standard</vt:lpwstr>
  </property>
  <property fmtid="{D5CDD505-2E9C-101B-9397-08002B2CF9AE}" pid="5" name="MSIP_Label_a6de1d5b-8b4b-4e4e-a8a1-d2976158103f_Name">
    <vt:lpwstr>defa4170-0d19-0005-0004-bc88714345d2</vt:lpwstr>
  </property>
  <property fmtid="{D5CDD505-2E9C-101B-9397-08002B2CF9AE}" pid="6" name="MSIP_Label_a6de1d5b-8b4b-4e4e-a8a1-d2976158103f_SiteId">
    <vt:lpwstr>ecd4c5d9-c2fe-4522-afd1-f0d20755d9d7</vt:lpwstr>
  </property>
  <property fmtid="{D5CDD505-2E9C-101B-9397-08002B2CF9AE}" pid="7" name="MSIP_Label_a6de1d5b-8b4b-4e4e-a8a1-d2976158103f_ActionId">
    <vt:lpwstr>602d701d-3531-41e8-89c3-7e5e0b774ab1</vt:lpwstr>
  </property>
  <property fmtid="{D5CDD505-2E9C-101B-9397-08002B2CF9AE}" pid="8" name="MSIP_Label_a6de1d5b-8b4b-4e4e-a8a1-d2976158103f_ContentBits">
    <vt:lpwstr>0</vt:lpwstr>
  </property>
  <property fmtid="{D5CDD505-2E9C-101B-9397-08002B2CF9AE}" pid="9" name="MSIP_Label_a6de1d5b-8b4b-4e4e-a8a1-d2976158103f_Tag">
    <vt:lpwstr>50, 3, 0, 1</vt:lpwstr>
  </property>
</Properties>
</file>