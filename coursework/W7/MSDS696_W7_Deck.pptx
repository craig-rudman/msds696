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1" r:id="rId6"/>
    <p:sldId id="276" r:id="rId7"/>
    <p:sldId id="263" r:id="rId8"/>
    <p:sldId id="266" r:id="rId9"/>
    <p:sldId id="267" r:id="rId10"/>
    <p:sldId id="265" r:id="rId11"/>
    <p:sldId id="268" r:id="rId12"/>
    <p:sldId id="269" r:id="rId13"/>
    <p:sldId id="270" r:id="rId14"/>
    <p:sldId id="271" r:id="rId15"/>
    <p:sldId id="272" r:id="rId16"/>
    <p:sldId id="273" r:id="rId17"/>
    <p:sldId id="274" r:id="rId18"/>
    <p:sldId id="275"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This is for a state or regional fire planner deciding, before the season starts, where to concentrate a fixed prevention and mitigation budget.</a:t>
            </a:r>
          </a:p>
          <a:p>
            <a:endParaRPr/>
          </a:p>
          <a:p>
            <a:r>
              <a:t>It comes out of the federal record of U.S. wildfire occurrence -- two point three million fires, 1992 through 2020, each with a date, a location, a size in acres, and a cause. A quarter of those fires have no specific cause recorded -- and by acres, nearly a fifth. That turned out to be a finding rather than a nuisance.</a:t>
            </a:r>
          </a:p>
          <a:p>
            <a:endParaRPr/>
          </a:p>
          <a:p>
            <a:r>
              <a:t>The recommendation, up front: for pre-season planning, stop targeting how big fires get. Target where they start.</a:t>
            </a:r>
          </a:p>
          <a:p>
            <a:endParaRPr/>
          </a:p>
          <a:p>
            <a:r>
              <a:t>WATCH —</a:t>
            </a:r>
          </a:p>
          <a:p>
            <a:r>
              <a:t>- Setup is 20 seconds, not a topic. Three beats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beat 18 pays it off as a product.</a:t>
            </a:r>
          </a:p>
          <a:p>
            <a:r>
              <a:t>- Both denominators are said aloud on purpose. Exact figures: 566,210 of 2,271,343 fires = 24.9% by count, but 33.2M of 179.4M acres = 18.5% by acres -- the missing fires are smaller than average. Beat 18's headline says "nearly a fifth of burned acres" and Tier 1's Unknown class is 18.5%; without the acres half of this sentence, an attentive listener hears slide 0 and beat 18 contradict each other. They do not -- they are two correct numbers on different denominators.</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a:p>
            <a:r>
              <a:t>- "Pre-season" is the scope of every null in this deck and it is load-bearing. Same-day conditions -- wind, timing, suppression availability -- were never tested.</a:t>
            </a:r>
          </a:p>
          <a:p>
            <a:r>
              <a:t>- Both halves are instructions, not predictions, which is why the opening needs no defense. The predictability claims arrive later, each with its own population.</a:t>
            </a:r>
          </a:p>
          <a:p>
            <a:endParaRPr/>
          </a:p>
          <a:p>
            <a:r>
              <a:t>TIME -- 0:45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Fire runs on a calendar, and the two peaks are months apart. The dashed line is when fires start, the solid one is how much burns. Spring and summer start about the same number of fires -- summer burns almost four times the area.</a:t>
            </a:r>
          </a:p>
          <a:p>
            <a:endParaRPr/>
          </a:p>
          <a:p>
            <a:r>
              <a:t>Fire management works on a seasonal horizon -- there's a national outlook issued every month, four months ahead, to support long-range decisions about staffing and allocation. Prevention and mitigation are sited work decided months ahead. Planners need to decide what to target, and where, before the season starts.</a:t>
            </a:r>
          </a:p>
          <a:p>
            <a:endParaRPr/>
          </a:p>
          <a:p>
            <a:r>
              <a:t>EVIDENCE —</a:t>
            </a:r>
          </a:p>
          <a:p>
            <a:r>
              <a:t>- Most fires start in spring; most acres burn in summer.</a:t>
            </a:r>
          </a:p>
          <a:p>
            <a:r>
              <a:t>- MAM and JJA start nearly the same number of fires and differ 3.9x in acres.</a:t>
            </a:r>
          </a:p>
          <a:p>
            <a:r>
              <a:t>- The dashed curve is starts, the solid filled curve is acres. The narrow spike in early July is Independence Day.</a:t>
            </a:r>
          </a:p>
          <a:p>
            <a:endParaRPr/>
          </a:p>
          <a:p>
            <a:r>
              <a:t>WATCH —</a:t>
            </a:r>
          </a:p>
          <a:p>
            <a:r>
              <a:t>- No axes and no magnitudes on this one -- it is a calendar, not a chart.</a:t>
            </a:r>
          </a:p>
          <a:p>
            <a:r>
              <a:t>- The offset is the point, not the seasonality. "Fire is seasonal" is not news to this audience. That starts and acres peak in *different months* is what says a count of ignitions is not a measure of consequence -- which is the distinction beats 16 and 17 land on.</a:t>
            </a:r>
          </a:p>
          <a:p>
            <a:r>
              <a:t>- Do not assert what agencies currently do. What is cited is that a *product exists* with a *stated purpose*, not what anyone does with it. Sources: NICC (2023), Predictive Services, Ch. 60 of the National Interagency Mobilization Guide -- the National Significant Wildland Fire Potential Outlook is issued monthly, covers four months, and the chapter states it "provides fire managers with the information needed to make long-range decisions concerning resource staffing and allocation"; and NICC (2026), a live issue, whose Outlook Objectives state it is "intended as a decision support tool" for "proactive decisions."</a:t>
            </a:r>
          </a:p>
          <a:p>
            <a:r>
              <a:t>- Three things the sources do NOT support, all of which earlier drafts of this line asserted: that the outlook "positions crews and equipment" (the text says decisions *concerning* staffing and allocation, not that resources move); that this is a suppression practice (Ch. 60 scopes Predictive Services to "operational management of and strategic planning for" fire management resources, broader than suppression); and anything about what coordinators think or prioritize. Say "fire management already works on a seasonal horizon," never "suppression coordinators think seasonally."</a:t>
            </a:r>
          </a:p>
          <a:p>
            <a:r>
              <a:t>- If asked about the July spike: it is Independence Day. July 4 is the single highest-start day in the record -- 16,907 starts, 2.71x the median day -- and July 5 is second at 15,141. Verified from `fires_clean.parquet`. It is a good answer to "does human cause really show up in the data," but do not build on it: no analysis in this deck rests on it.</a:t>
            </a:r>
          </a:p>
          <a:p>
            <a:endParaRPr/>
          </a:p>
          <a:p>
            <a:r>
              <a:t>TIME -- 0:35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The unit here isn't a state. Fire follows terrain, vegetation and climate, not county lines -- so every fire is placed into an EPA Level III ecoregion, drawn from exactly those things. A hundred and five cover the country.</a:t>
            </a:r>
          </a:p>
          <a:p>
            <a:endParaRPr/>
          </a:p>
          <a:p>
            <a:r>
              <a:t>Shade each by how much of its burned area is lightning-caused, and the map splits at about the hundredth meridian: natural in the West, human in the East, Alaska almost entirely natural. And it's not a gradient -- fifty regions sit below twenty percent natural, twenty-eight above eighty, only twenty-seven in between.</a:t>
            </a:r>
          </a:p>
          <a:p>
            <a:endParaRPr/>
          </a:p>
          <a:p>
            <a:r>
              <a:t>So there's no national answer to what starts fires. There are regional ones.</a:t>
            </a:r>
          </a:p>
          <a:p>
            <a:endParaRPr/>
          </a:p>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a:p>
            <a:endParaRPr/>
          </a:p>
          <a:p>
            <a:r>
              <a:t>WATCH —</a:t>
            </a:r>
          </a:p>
          <a:p>
            <a:r>
              <a:t>- The ecoregion choice is a design decision, not a tested result. No state-boundary version was built and compared, so do not say ecoregions "work better than states." Say the unit was chosen because it is delineated from terrain, vegetation, soils and climate -- the things that govern how fire behaves -- where a state boundary is administrative. Omernik &amp; Griffith (2014) is the framework; Stephens et al. (2026) models fire at Level III grain.</a:t>
            </a:r>
          </a:p>
          <a:p>
            <a:r>
              <a:t>- This is the only slide that explains the unit, and beats 3–6 all run on it. If it gets cut for time, the ecoregion grain arrives unexplained.</a:t>
            </a:r>
          </a:p>
          <a:p>
            <a:r>
              <a:t>- Bimodality is the load-bearing part, not the West/East split. A gradient would mean every region needs its own blended strategy; two modes mean most regions have a dominant cause and a planner can act on it.</a:t>
            </a:r>
          </a:p>
          <a:p>
            <a:r>
              <a:t>- Shares of attributed acres -- the missing-cause mass named on the title slide is excluded from this shading. Beat 18 comes back for it.</a:t>
            </a:r>
          </a:p>
          <a:p>
            <a:endParaRPr/>
          </a:p>
          <a:p>
            <a:r>
              <a:t>TIME -- 0:40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dirty="0"/>
          </a:p>
          <a:p>
            <a:r>
              <a:rPr dirty="0"/>
              <a:t>EVIDENCE —</a:t>
            </a:r>
          </a:p>
          <a:p>
            <a:r>
              <a:rPr dirty="0"/>
              <a:t>- The deck's only figure that plots no data, and its only one about the method rather than the fire. The solved row is closed, the untested row dashed.</a:t>
            </a:r>
          </a:p>
          <a:p>
            <a:r>
              <a:rPr dirty="0"/>
              <a:t>- The fourth time the project has met the same lesson: W4's pooled climate null, beat 12's places-not-years, beat 7's grain drop, now this.</a:t>
            </a:r>
          </a:p>
          <a:p>
            <a:endParaRPr dirty="0"/>
          </a:p>
          <a:p>
            <a:r>
              <a:rPr dirty="0"/>
              <a:t>WATCH —</a:t>
            </a:r>
          </a:p>
          <a:p>
            <a:r>
              <a:rPr dirty="0"/>
              <a:t>- Say "before the season" whenever the claim is stated as a null. "Megafire size is unpredictable" is a much bigger claim than anything measured here.</a:t>
            </a:r>
          </a:p>
          <a:p>
            <a:r>
              <a:rPr dirty="0"/>
              <a:t>- Do not </a:t>
            </a:r>
            <a:r>
              <a:rPr dirty="0" err="1"/>
              <a:t>apologise</a:t>
            </a:r>
            <a:r>
              <a:rPr dirty="0"/>
              <a:t> for the null. Five ablations, a shuffled control at 26.6 SD, and a gain that landed in the wrong deciles is a thorough negative result.</a:t>
            </a:r>
          </a:p>
          <a:p>
            <a:r>
              <a:rPr dirty="0"/>
              <a:t>- If asked "did you try hard enough?" — pre-season data was tried hard, same-day data was not tried at all. The second half is the open question, not a gap.</a:t>
            </a:r>
          </a:p>
          <a:p>
            <a:r>
              <a:rPr dirty="0"/>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fires get. Target where they start.</a:t>
            </a:r>
          </a:p>
          <a:p>
            <a:endParaRPr/>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endParaRPr/>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185159"/>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Rank the ground,</a:t>
            </a:r>
          </a:p>
          <a:p>
            <a:pPr algn="l"/>
            <a:r>
              <a:rPr lang="en-US" sz="4400" b="1" dirty="0">
                <a:solidFill>
                  <a:srgbClr val="1A1A1A"/>
                </a:solidFill>
                <a:latin typeface="Helvetica Neue"/>
              </a:rPr>
              <a:t>not the fire.</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p:cNvPicPr>
            <a:picLocks noChangeAspect="1"/>
          </p:cNvPicPr>
          <p:nvPr/>
        </p:nvPicPr>
        <p:blipFill>
          <a:blip r:embed="rId3"/>
          <a:srcRect/>
          <a:stretch/>
        </p:blipFill>
        <p:spPr>
          <a:xfrm>
            <a:off x="548639" y="1931641"/>
            <a:ext cx="11094415" cy="39483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but not at ecoregion scale.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
        <p:nvSpPr>
          <p:cNvPr id="2" name="TextBox 1"/>
          <p:cNvSpPr txBox="1"/>
          <p:nvPr/>
        </p:nvSpPr>
        <p:spPr>
          <a:xfrm>
            <a:off x="548640" y="411480"/>
            <a:ext cx="11094415" cy="861774"/>
          </a:xfrm>
          <a:prstGeom prst="rect">
            <a:avLst/>
          </a:prstGeom>
          <a:noFill/>
        </p:spPr>
        <p:txBody>
          <a:bodyPr wrap="square" anchor="t">
            <a:spAutoFit/>
          </a:bodyPr>
          <a:lstStyle/>
          <a:p>
            <a:r>
              <a:rPr lang="en-US" sz="2500" b="1" dirty="0">
                <a:solidFill>
                  <a:srgbClr val="1A1A1A"/>
                </a:solidFill>
                <a:latin typeface="Helvetica Neue"/>
              </a:rPr>
              <a:t>Up to a point, human and natural burned area is equally predictable. Past that point, natural is harder.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Human fire is predictable year-round; </a:t>
            </a:r>
            <a:r>
              <a:rPr lang="en-US" sz="3000" b="1" dirty="0">
                <a:solidFill>
                  <a:srgbClr val="1A1A1A"/>
                </a:solidFill>
                <a:latin typeface="Helvetica Neue"/>
              </a:rPr>
              <a:t>natural fires</a:t>
            </a:r>
            <a:r>
              <a:rPr sz="3000" b="1" dirty="0">
                <a:solidFill>
                  <a:srgbClr val="1A1A1A"/>
                </a:solidFill>
                <a:latin typeface="Helvetica Neue"/>
              </a:rPr>
              <a:t> only in summer.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6750</TotalTime>
  <Words>3987</Words>
  <Application>Microsoft Macintosh PowerPoint</Application>
  <PresentationFormat>Widescreen</PresentationFormat>
  <Paragraphs>208</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12</cp:revision>
  <dcterms:created xsi:type="dcterms:W3CDTF">2013-01-27T09:14:16Z</dcterms:created>
  <dcterms:modified xsi:type="dcterms:W3CDTF">2026-08-18T23:28:17Z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