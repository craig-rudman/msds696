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 id="27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622E"/>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35"/>
    <p:restoredTop sz="76575"/>
  </p:normalViewPr>
  <p:slideViewPr>
    <p:cSldViewPr snapToGrid="0" snapToObjects="1">
      <p:cViewPr varScale="1">
        <p:scale>
          <a:sx n="91" d="100"/>
          <a:sy n="91" d="100"/>
        </p:scale>
        <p:origin x="28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for a state or regional fire planner deciding, before the season starts, where to concentrate a fixed prevention and mitigation budget.</a:t>
            </a:r>
          </a:p>
          <a:p>
            <a:endParaRPr dirty="0"/>
          </a:p>
          <a:p>
            <a:r>
              <a:rPr dirty="0"/>
              <a:t>It comes out of the federal record of U.S. wildfire occurrence — </a:t>
            </a:r>
            <a:r>
              <a:rPr lang="en-US" dirty="0"/>
              <a:t>2.3 million </a:t>
            </a:r>
            <a:r>
              <a:rPr dirty="0"/>
              <a:t>fires, 1992 through 2020, each with a date, a location, a size, and a cause. A quarter have no cause recorded; by acres</a:t>
            </a:r>
            <a:r>
              <a:rPr lang="en-US" dirty="0"/>
              <a:t> burned</a:t>
            </a:r>
            <a:r>
              <a:rPr dirty="0"/>
              <a:t>, nearly a fifth.</a:t>
            </a:r>
          </a:p>
          <a:p>
            <a:endParaRPr dirty="0"/>
          </a:p>
          <a:p>
            <a:r>
              <a:rPr dirty="0"/>
              <a:t>The recommendation, up front: for pre-season planning, rank the ground — not the fire. Where fires start is predictable. How big they get, before the season, is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runs on a calendar, and the two peaks are months apart. The dashed line is when fires start, the solid one is how much burns. Spring and summer start about the same number of fires — summer burns almost four times the area.</a:t>
            </a:r>
          </a:p>
          <a:p>
            <a:endParaRPr dirty="0"/>
          </a:p>
          <a:p>
            <a:r>
              <a:rPr dirty="0"/>
              <a:t>Fire management works on a seasonal horizon — there's a national outlook issued monthly, four months ahead, to support long-range decisions about staffing and allocation. Planners have to decide what to target, and where, before the season starts.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follows terrain, vegetation and climate</a:t>
            </a:r>
            <a:r>
              <a:rPr lang="en-US" dirty="0"/>
              <a:t>, not state borders, </a:t>
            </a:r>
            <a:r>
              <a:rPr dirty="0"/>
              <a:t>so every fire is placed into an EPA Level III ecoregion. A hundred and five cover the country.</a:t>
            </a:r>
          </a:p>
          <a:p>
            <a:endParaRPr dirty="0"/>
          </a:p>
          <a:p>
            <a:r>
              <a:rPr lang="en-US" dirty="0"/>
              <a:t>If we s</a:t>
            </a:r>
            <a:r>
              <a:rPr dirty="0"/>
              <a:t>hade each by how much of its burned area i</a:t>
            </a:r>
            <a:r>
              <a:rPr lang="en-US" dirty="0"/>
              <a:t>s of natural causes — lightning, mostly — then </a:t>
            </a:r>
            <a:r>
              <a:rPr dirty="0"/>
              <a:t>the map splits at about the hundredth meridian — natural in the West, human in the East.</a:t>
            </a:r>
          </a:p>
          <a:p>
            <a:endParaRPr dirty="0"/>
          </a:p>
          <a:p>
            <a:r>
              <a:rPr dirty="0"/>
              <a:t>So there's no national answer to what starts fires. There are regional ones.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mix is three classes splitting a region-season's burned acres — natural, human, and unknown</a:t>
            </a:r>
            <a:r>
              <a:rPr lang="en-US" dirty="0"/>
              <a:t>.</a:t>
            </a:r>
            <a:endParaRPr dirty="0"/>
          </a:p>
          <a:p>
            <a:endParaRPr dirty="0"/>
          </a:p>
          <a:p>
            <a:r>
              <a:rPr lang="en-US" dirty="0"/>
              <a:t>We're looking at t</a:t>
            </a:r>
            <a:r>
              <a:rPr dirty="0"/>
              <a:t>hree ways to predict that mix</a:t>
            </a:r>
            <a:r>
              <a:rPr lang="en-US" dirty="0"/>
              <a:t> using a trailing mean of 7 years by region-season, acre-weighted, forward-chained. A </a:t>
            </a:r>
            <a:r>
              <a:rPr dirty="0"/>
              <a:t>region's own seasonal history</a:t>
            </a:r>
            <a:r>
              <a:rPr lang="en-US" dirty="0"/>
              <a:t>  beats the aggregate models. </a:t>
            </a:r>
            <a:br>
              <a:rPr lang="en-US" dirty="0"/>
            </a:br>
            <a:endParaRPr dirty="0"/>
          </a:p>
          <a:p>
            <a:r>
              <a:rPr lang="en-US" dirty="0"/>
              <a:t>Some region-seasons are more stable than others. A</a:t>
            </a:r>
            <a:r>
              <a:rPr dirty="0"/>
              <a:t> settled history forecasts well, a swinging one doesn't.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Human-caused fires break down to eleven causes: arson, equipment, debris burning, powerlines, and so on. Rank them per region-season by the acres each drives.</a:t>
            </a:r>
          </a:p>
          <a:p>
            <a:endParaRPr dirty="0"/>
          </a:p>
          <a:p>
            <a:r>
              <a:rPr dirty="0"/>
              <a:t>And that ranking isn't the obvious one. Debris burning starts the most fires of any human cause and is only third in acres. Equipment starts a third as many and burns more. What's worth preventing isn't what starts most often.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rPr dirty="0"/>
              <a:t>We tried training a few different models on a few different feature sets. None of them beat the region's own seasonal history — including the ones we handed that history to.</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Ecoregion is the right scale for deciding what to target, but the wrong one for deciding where to focus resources. Layer in a </a:t>
            </a:r>
            <a:r>
              <a:rPr dirty="0" err="1"/>
              <a:t>hexmap</a:t>
            </a:r>
            <a:r>
              <a:rPr dirty="0"/>
              <a:t> of cells, about sixty thousand acres each, and the target changes with it: not shares of burned area, but counts of ignitions.</a:t>
            </a:r>
          </a:p>
          <a:p>
            <a:endParaRPr dirty="0"/>
          </a:p>
          <a:p>
            <a:r>
              <a:rPr dirty="0"/>
              <a:t>One region here — the Klamath Mountains, about two hundred cells. The darker cells show six percent of the ground catches a third of next season's starts; the lighter band, twenty-nine percent for sixty percent of the starts.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acres instead of starts — same cells. Ninety percent of them hold two percent of the burn; one percent hold more than half.</a:t>
            </a:r>
          </a:p>
          <a:p>
            <a:endParaRPr dirty="0"/>
          </a:p>
          <a:p>
            <a:r>
              <a:rPr dirty="0"/>
              <a:t>So a forecast only matters at the right-hand edge.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endParaRPr dirty="0"/>
          </a:p>
          <a:p>
            <a:r>
              <a:rPr dirty="0"/>
              <a:t>So these ship as two different products. Human acres burned you can rank by expected acres. Nature fires you can't — which means for lightning the answer has to be something other than acres.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Ranking cells by where fires start splits by season. Human in blue, natural in orange.</a:t>
            </a:r>
          </a:p>
          <a:p>
            <a:endParaRPr dirty="0"/>
          </a:p>
          <a:p>
            <a:r>
              <a:rPr dirty="0"/>
              <a:t>Human fire is </a:t>
            </a:r>
            <a:r>
              <a:rPr dirty="0" err="1"/>
              <a:t>rankable</a:t>
            </a:r>
            <a:r>
              <a:rPr dirty="0"/>
              <a:t> all year. It peaks in spring, but it never drops far. Natural fire is a summer phenomenon — good in July, and by winter it's essentially nothing.</a:t>
            </a:r>
          </a:p>
          <a:p>
            <a:endParaRPr dirty="0"/>
          </a:p>
          <a:p>
            <a:r>
              <a:rPr dirty="0"/>
              <a:t>That matters because they call for different work. Human ignition is a year-round program. Lightning is a seasonal one, and its the one that burns the most.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layered in data about drought and fuel density over time. Nothing moved. The axis starts at zero, so a real effect would show, and the best gain here is four thousandths.</a:t>
            </a:r>
          </a:p>
          <a:p>
            <a:endParaRPr dirty="0"/>
          </a:p>
          <a:p>
            <a:r>
              <a:rPr dirty="0"/>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Same rungs, same axis, same zero — one line this time, because this is lightning only. And it moves.</a:t>
            </a:r>
          </a:p>
          <a:p>
            <a:endParaRPr dirty="0"/>
          </a:p>
          <a:p>
            <a:r>
              <a:rPr dirty="0"/>
              <a:t>Drought alone does nothing. Fuel alone does nothing. Together they give a real gain — a fifth better than history, holding across every way we split the years. Which makes sense: wet heavy fuel won't carry fire, dry bare ground has nothing to burn. You need both.</a:t>
            </a:r>
          </a:p>
          <a:p>
            <a:endParaRPr dirty="0"/>
          </a:p>
          <a:p>
            <a:r>
              <a:rPr dirty="0"/>
              <a:t>So the data does know something about how much burns. The question is whether it knows it anywhere useful.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But look at where it lands. Same axis as before, with the covariate model laid over the baseline.</a:t>
            </a:r>
          </a:p>
          <a:p>
            <a:endParaRPr dirty="0"/>
          </a:p>
          <a:p>
            <a:r>
              <a:rPr dirty="0"/>
              <a:t>The blue lens is the gain. It's real, and it's on cells of one to two hundred acres. At the right edge, where almost all the burn is, the two lines finish together.</a:t>
            </a:r>
          </a:p>
          <a:p>
            <a:endParaRPr dirty="0"/>
          </a:p>
          <a:p>
            <a:r>
              <a:rPr dirty="0"/>
              <a:t>We improved the forecast exactly where it doesn't matter. And on the smallest cells it's actually worse. So a gain that survives every statistical test still doesn't buy a planner anything — which says the problem isn't 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endParaRPr dirty="0"/>
          </a:p>
          <a:p>
            <a:r>
              <a:rPr dirty="0"/>
              <a:t>We couldn't test it here; same-day data is a different project. But the shape of the failure tells you where to look.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target ignition. A cell that ignites at all is about twenty times more likely to produce a thousand-acre fire than one that doesn't — that's the case for going after starts.</a:t>
            </a:r>
          </a:p>
          <a:p>
            <a:endParaRPr dirty="0"/>
          </a:p>
          <a:p>
            <a:r>
              <a:rPr dirty="0"/>
              <a:t>But the obvious way to act on that is wrong. Every large fire in the held-out years, sorted by how many times its cell ignited that season: half of them ignited exactly once.</a:t>
            </a:r>
          </a:p>
          <a:p>
            <a:endParaRPr dirty="0"/>
          </a:p>
          <a:p>
            <a:r>
              <a:rPr dirty="0"/>
              <a:t>So this isn't a dial you turn up. It's a gate — does this place ignite at all. Rank cells by how often they ignite and you </a:t>
            </a:r>
            <a:r>
              <a:rPr dirty="0" err="1"/>
              <a:t>deprioritise</a:t>
            </a:r>
            <a:r>
              <a:rPr dirty="0"/>
              <a:t> the ground that produced half of the big fires.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thing left — the quarter of fires I mentioned at the start with no cause on record, nearly a fifth by acres. That's been a class to predict all along, not a gap to </a:t>
            </a:r>
            <a:r>
              <a:rPr dirty="0" err="1"/>
              <a:t>apologise</a:t>
            </a:r>
            <a:r>
              <a:rPr dirty="0"/>
              <a:t> for.</a:t>
            </a:r>
          </a:p>
          <a:p>
            <a:endParaRPr dirty="0"/>
          </a:p>
          <a:p>
            <a:r>
              <a:rPr dirty="0"/>
              <a:t>Because predicting where the record goes dark gives you a worklist: the region-seasons where the most acres will go unattributed next season. Southwestern Tablelands in spring, about a million.</a:t>
            </a:r>
          </a:p>
          <a:p>
            <a:endParaRPr dirty="0"/>
          </a:p>
          <a:p>
            <a:r>
              <a:rPr dirty="0"/>
              <a:t>Ranked by acres, not by rate. Central Great Plains is worse — two thirds unattributed — and sits fourth, because fixing the record where little burns buys you nothing.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Everything here starts from one federal record — every U.S. wildfire, nineteen ninety-two to twenty twenty. It knows when a fire started, where, how big it got and what caused it.</a:t>
            </a:r>
          </a:p>
          <a:p>
            <a:endParaRPr dirty="0"/>
          </a:p>
          <a:p>
            <a:r>
              <a:rPr dirty="0"/>
              <a:t>What it doesn't know is the shape of the burn, what the ground was like, or how dry the season had been. So four things were joined onto it: ecoregions for the regional unit, satellite perimeters so a fire is an area rather than a dot, drought, and fuel load.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products, one per class, ordered by where the acres are. For lightning — the majority of the burn — rank the ground and treat what ignites. For human fire, rank the causes by the acres they drive. And where the record says neither, fix the record.</a:t>
            </a:r>
          </a:p>
          <a:p>
            <a:endParaRPr dirty="0"/>
          </a:p>
          <a:p>
            <a:r>
              <a:rPr dirty="0"/>
              <a:t>One boundary on all three: trust the order, not the number. These will tell you which region, which cause, which ground comes first. They won't tell you how many acres you'll save.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Rank the ground, not the fire — and trust the order, not the number.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4985980"/>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800" b="0" dirty="0">
                <a:solidFill>
                  <a:srgbClr val="5A5A5A"/>
                </a:solidFill>
                <a:latin typeface="Helvetica Neue"/>
              </a:rPr>
              <a:t>Predicting Region-Season Wildfire Cause Patterns to Target Prevention and Mitigation</a:t>
            </a:r>
          </a:p>
          <a:p>
            <a:pPr algn="l">
              <a:spcBef>
                <a:spcPts val="1800"/>
              </a:spcBef>
            </a:pPr>
            <a:endParaRPr lang="en-US" sz="1500" b="0" dirty="0">
              <a:solidFill>
                <a:srgbClr val="5A5A5A"/>
              </a:solidFill>
              <a:latin typeface="Helvetica Neue"/>
            </a:endParaRPr>
          </a:p>
          <a:p>
            <a:pPr algn="l">
              <a:spcBef>
                <a:spcPts val="1800"/>
              </a:spcBef>
            </a:pPr>
            <a:endParaRPr lang="en-US" sz="1500" dirty="0">
              <a:solidFill>
                <a:srgbClr val="5A5A5A"/>
              </a:solidFill>
              <a:latin typeface="Helvetica Neue"/>
            </a:endParaRPr>
          </a:p>
          <a:p>
            <a:pPr algn="l">
              <a:spcBef>
                <a:spcPts val="1800"/>
              </a:spcBef>
            </a:pPr>
            <a:endParaRPr lang="en-US" sz="1500" b="0" dirty="0">
              <a:solidFill>
                <a:srgbClr val="5A5A5A"/>
              </a:solidFill>
              <a:latin typeface="Helvetica Neue"/>
            </a:endParaRP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
        <p:nvSpPr>
          <p:cNvPr id="4" name="TextBox 3">
            <a:extLst>
              <a:ext uri="{FF2B5EF4-FFF2-40B4-BE49-F238E27FC236}">
                <a16:creationId xmlns:a16="http://schemas.microsoft.com/office/drawing/2014/main" id="{0461E10A-AE25-A977-B757-962C3755C840}"/>
              </a:ext>
            </a:extLst>
          </p:cNvPr>
          <p:cNvSpPr txBox="1"/>
          <p:nvPr/>
        </p:nvSpPr>
        <p:spPr>
          <a:xfrm>
            <a:off x="548640" y="4264900"/>
            <a:ext cx="7459394" cy="369332"/>
          </a:xfrm>
          <a:prstGeom prst="rect">
            <a:avLst/>
          </a:prstGeom>
          <a:noFill/>
        </p:spPr>
        <p:txBody>
          <a:bodyPr wrap="square">
            <a:spAutoFit/>
          </a:bodyPr>
          <a:lstStyle/>
          <a:p>
            <a:r>
              <a:rPr lang="en-US" sz="1800" b="0" i="0" dirty="0">
                <a:solidFill>
                  <a:schemeClr val="bg1">
                    <a:lumMod val="50000"/>
                  </a:schemeClr>
                </a:solidFill>
                <a:effectLst/>
                <a:latin typeface="+mn-lt"/>
              </a:rPr>
              <a:t>Source: FPA-FOD 6th ed., 2,271,343 fires, 1992–2020, 179.4M acres.</a:t>
            </a:r>
            <a:endParaRPr lang="en-US" dirty="0">
              <a:solidFill>
                <a:schemeClr val="bg1">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
        <p:nvSpPr>
          <p:cNvPr id="7" name="TextBox 6">
            <a:extLst>
              <a:ext uri="{FF2B5EF4-FFF2-40B4-BE49-F238E27FC236}">
                <a16:creationId xmlns:a16="http://schemas.microsoft.com/office/drawing/2014/main" id="{347EEB89-2B9C-BB35-F722-2058ADD2CB01}"/>
              </a:ext>
            </a:extLst>
          </p:cNvPr>
          <p:cNvSpPr txBox="1"/>
          <p:nvPr/>
        </p:nvSpPr>
        <p:spPr>
          <a:xfrm>
            <a:off x="1776823" y="6192603"/>
            <a:ext cx="8638352"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2.3M cleaned fires, 179.4M acres, 29 years; curves scaled to a typical year.</a:t>
            </a:r>
            <a:endParaRPr lang="en-US" sz="1600" i="1" dirty="0">
              <a:solidFill>
                <a:schemeClr val="bg1">
                  <a:lumMod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2233024" y="833359"/>
            <a:ext cx="7725951" cy="5191281"/>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
        <p:nvSpPr>
          <p:cNvPr id="5" name="TextBox 4">
            <a:extLst>
              <a:ext uri="{FF2B5EF4-FFF2-40B4-BE49-F238E27FC236}">
                <a16:creationId xmlns:a16="http://schemas.microsoft.com/office/drawing/2014/main" id="{7826B216-0E53-5547-43EF-8E75F0916A5C}"/>
              </a:ext>
            </a:extLst>
          </p:cNvPr>
          <p:cNvSpPr txBox="1"/>
          <p:nvPr/>
        </p:nvSpPr>
        <p:spPr>
          <a:xfrm>
            <a:off x="1776823" y="6192603"/>
            <a:ext cx="8638352"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105 Level III ecoregions; 146M resolved acres (missing-cause acres excluded from shading)</a:t>
            </a:r>
            <a:endParaRPr lang="en-US" sz="1600" i="1" dirty="0">
              <a:solidFill>
                <a:schemeClr val="bg1">
                  <a:lumMod val="5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
        <p:nvSpPr>
          <p:cNvPr id="4" name="TextBox 3">
            <a:extLst>
              <a:ext uri="{FF2B5EF4-FFF2-40B4-BE49-F238E27FC236}">
                <a16:creationId xmlns:a16="http://schemas.microsoft.com/office/drawing/2014/main" id="{44E99AB6-31FA-2312-E73A-6A165F8BD343}"/>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3.9k held-out region-seasons, 2010–2020; 80M held-out acres; trailing-mean k=7, forward-chained, acre-weighted TVD.</a:t>
            </a:r>
            <a:endParaRPr lang="en-US" sz="1600" i="1" dirty="0">
              <a:solidFill>
                <a:schemeClr val="bg1">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931641"/>
            <a:ext cx="11094415" cy="3948306"/>
          </a:xfrm>
          <a:prstGeom prst="rect">
            <a:avLst/>
          </a:prstGeom>
        </p:spPr>
      </p:pic>
      <p:sp>
        <p:nvSpPr>
          <p:cNvPr id="6" name="TextBox 5">
            <a:extLst>
              <a:ext uri="{FF2B5EF4-FFF2-40B4-BE49-F238E27FC236}">
                <a16:creationId xmlns:a16="http://schemas.microsoft.com/office/drawing/2014/main" id="{3A02CEE0-9D99-E9C7-301A-3AF2984ADBB5}"/>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3.9k held-out region-seasons (volatility split 3,844), 2010–2020; human-acres denominator;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trailing-mean k=7, forward-chained, acre-weighted TVD.</a:t>
            </a:r>
            <a:endParaRPr lang="en-US" sz="1600" i="1" dirty="0">
              <a:solidFill>
                <a:schemeClr val="bg1">
                  <a:lumMod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
        <p:nvSpPr>
          <p:cNvPr id="4" name="TextBox 3">
            <a:extLst>
              <a:ext uri="{FF2B5EF4-FFF2-40B4-BE49-F238E27FC236}">
                <a16:creationId xmlns:a16="http://schemas.microsoft.com/office/drawing/2014/main" id="{0649C069-F165-DB2C-84CF-270D8E5F9A05}"/>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3.8k held-out region-seasons, 2010–2020; all rungs on identical cells, features and weights;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ridge and gradient boosting vs. the k=7 floor, acre-weighted TVD and top-1.</a:t>
            </a:r>
            <a:endParaRPr lang="en-US" sz="1600" i="1" dirty="0">
              <a:solidFill>
                <a:schemeClr val="bg1">
                  <a:lumMod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2422271" y="941365"/>
            <a:ext cx="7347150" cy="5166601"/>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
        <p:nvSpPr>
          <p:cNvPr id="4" name="TextBox 3">
            <a:extLst>
              <a:ext uri="{FF2B5EF4-FFF2-40B4-BE49-F238E27FC236}">
                <a16:creationId xmlns:a16="http://schemas.microsoft.com/office/drawing/2014/main" id="{35CA1104-E9DD-9C66-996E-CF6BAECA1CE7}"/>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198 res-5 hexes, Klamath Mountains, Summer 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366 observed starts; persistence baseline, forward-chained; one season, not pooled.</a:t>
            </a:r>
            <a:endParaRPr lang="en-US" sz="1600" i="1" dirty="0">
              <a:solidFill>
                <a:schemeClr val="bg1">
                  <a:lumMod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2508758" y="1323368"/>
            <a:ext cx="6860325" cy="4611947"/>
          </a:xfrm>
          <a:prstGeom prst="rect">
            <a:avLst/>
          </a:prstGeom>
        </p:spPr>
      </p:pic>
      <p:sp>
        <p:nvSpPr>
          <p:cNvPr id="4" name="TextBox 3">
            <a:extLst>
              <a:ext uri="{FF2B5EF4-FFF2-40B4-BE49-F238E27FC236}">
                <a16:creationId xmlns:a16="http://schemas.microsoft.com/office/drawing/2014/main" id="{11E84AB5-C183-16D4-84D0-3BA98C4D5689}"/>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167.8k burning hex-seasons; zero-burn cells excluded; perimeter-corrected acres; descriptive, no model.</a:t>
            </a:r>
            <a:endParaRPr lang="en-US" sz="1600" i="1" dirty="0">
              <a:solidFill>
                <a:schemeClr val="bg1">
                  <a:lumMod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970247" y="1147521"/>
            <a:ext cx="8251200" cy="4773496"/>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
        <p:nvSpPr>
          <p:cNvPr id="4" name="TextBox 3">
            <a:extLst>
              <a:ext uri="{FF2B5EF4-FFF2-40B4-BE49-F238E27FC236}">
                <a16:creationId xmlns:a16="http://schemas.microsoft.com/office/drawing/2014/main" id="{B368B94B-19D9-33C5-D7B9-7017F8A24D2D}"/>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18.6k natural vs. 149.9k human burning hex-seasons, ≥1 acre, 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persistence baseline, forward-chained; median log error by decile.</a:t>
            </a:r>
            <a:endParaRPr lang="en-US" sz="1600" i="1" dirty="0">
              <a:solidFill>
                <a:schemeClr val="bg1">
                  <a:lumMod val="50000"/>
                </a:schemeClr>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322516" y="1556421"/>
            <a:ext cx="7546968" cy="4450333"/>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
        <p:nvSpPr>
          <p:cNvPr id="4" name="TextBox 3">
            <a:extLst>
              <a:ext uri="{FF2B5EF4-FFF2-40B4-BE49-F238E27FC236}">
                <a16:creationId xmlns:a16="http://schemas.microsoft.com/office/drawing/2014/main" id="{57175F21-06A3-3BA6-84FE-ED79EFAD8763}"/>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36.2k hexes per plotted point; 398.6k per season across 11 held-out years;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persistence baseline, forward-chained; held-out Spearman, band is min–max.</a:t>
            </a:r>
            <a:endParaRPr lang="en-US" sz="1600" i="1" dirty="0">
              <a:solidFill>
                <a:schemeClr val="bg1">
                  <a:lumMod val="50000"/>
                </a:scheme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362221" y="1557997"/>
            <a:ext cx="9467557" cy="4412887"/>
          </a:xfrm>
          <a:prstGeom prst="rect">
            <a:avLst/>
          </a:prstGeom>
        </p:spPr>
      </p:pic>
      <p:sp>
        <p:nvSpPr>
          <p:cNvPr id="4" name="TextBox 3">
            <a:extLst>
              <a:ext uri="{FF2B5EF4-FFF2-40B4-BE49-F238E27FC236}">
                <a16:creationId xmlns:a16="http://schemas.microsoft.com/office/drawing/2014/main" id="{EC70F1D6-B273-B24D-7E39-C59C845B5B37}"/>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29.3k held-out hex-seasons, six forest ecoregions, Summers 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covariate ablation over the persistence floor, covariates lagged pre-season; held-out Spearman.</a:t>
            </a:r>
            <a:endParaRPr lang="en-US" sz="1600" i="1" dirty="0">
              <a:solidFill>
                <a:schemeClr val="bg1">
                  <a:lumMod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1479575" y="1547446"/>
            <a:ext cx="9232543" cy="4238751"/>
          </a:xfrm>
          <a:prstGeom prst="rect">
            <a:avLst/>
          </a:prstGeom>
        </p:spPr>
      </p:pic>
      <p:sp>
        <p:nvSpPr>
          <p:cNvPr id="4" name="TextBox 3">
            <a:extLst>
              <a:ext uri="{FF2B5EF4-FFF2-40B4-BE49-F238E27FC236}">
                <a16:creationId xmlns:a16="http://schemas.microsoft.com/office/drawing/2014/main" id="{CFBBF8FE-FF70-5617-7AD8-6598BC984D10}"/>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7.8k burning hex-seasons, Summers 2010–2020;</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burn-conditional baseline, covariate ablation, validated across five split years; held-out Spearman.</a:t>
            </a:r>
            <a:endParaRPr lang="en-US" sz="1600" i="1" dirty="0">
              <a:solidFill>
                <a:schemeClr val="bg1">
                  <a:lumMod val="50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2338784" y="1041390"/>
            <a:ext cx="7114705" cy="4775219"/>
          </a:xfrm>
          <a:prstGeom prst="rect">
            <a:avLst/>
          </a:prstGeom>
        </p:spPr>
      </p:pic>
      <p:sp>
        <p:nvSpPr>
          <p:cNvPr id="4" name="TextBox 3">
            <a:extLst>
              <a:ext uri="{FF2B5EF4-FFF2-40B4-BE49-F238E27FC236}">
                <a16:creationId xmlns:a16="http://schemas.microsoft.com/office/drawing/2014/main" id="{2FDCEA1F-CC5A-7549-CAF9-1D85C3B55EC7}"/>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7.8k held-out hex-seasons, 780 per decile; same cells and model as slide 11; median log error by decile.</a:t>
            </a:r>
            <a:endParaRPr lang="en-US" sz="1600" i="1" dirty="0">
              <a:solidFill>
                <a:schemeClr val="bg1">
                  <a:lumMod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8" y="1331859"/>
            <a:ext cx="10733217" cy="4663440"/>
          </a:xfrm>
          <a:prstGeom prst="rect">
            <a:avLst/>
          </a:prstGeom>
        </p:spPr>
      </p:pic>
      <p:sp>
        <p:nvSpPr>
          <p:cNvPr id="4" name="TextBox 3">
            <a:extLst>
              <a:ext uri="{FF2B5EF4-FFF2-40B4-BE49-F238E27FC236}">
                <a16:creationId xmlns:a16="http://schemas.microsoft.com/office/drawing/2014/main" id="{2D16ED9A-101B-8A18-CED8-053BDABFAEDE}"/>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2.8k large-fire cells (≥1k acres), held-out years, Summer, natural; descriptive, no model</a:t>
            </a:r>
            <a:endParaRPr lang="en-US" sz="1600" i="1" dirty="0">
              <a:solidFill>
                <a:schemeClr val="bg1">
                  <a:lumMod val="5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
        <p:nvSpPr>
          <p:cNvPr id="4" name="TextBox 3">
            <a:extLst>
              <a:ext uri="{FF2B5EF4-FFF2-40B4-BE49-F238E27FC236}">
                <a16:creationId xmlns:a16="http://schemas.microsoft.com/office/drawing/2014/main" id="{2F3352B4-5D6F-88B8-8DF5-63C60FC68608}"/>
              </a:ext>
            </a:extLst>
          </p:cNvPr>
          <p:cNvSpPr txBox="1"/>
          <p:nvPr/>
        </p:nvSpPr>
        <p:spPr>
          <a:xfrm>
            <a:off x="548639" y="6107966"/>
            <a:ext cx="11094415" cy="584775"/>
          </a:xfrm>
          <a:prstGeom prst="rect">
            <a:avLst/>
          </a:prstGeom>
          <a:noFill/>
        </p:spPr>
        <p:txBody>
          <a:bodyPr wrap="square">
            <a:spAutoFit/>
          </a:bodyPr>
          <a:lstStyle/>
          <a:p>
            <a:pPr algn="ctr"/>
            <a:r>
              <a:rPr lang="en-US" sz="1600" i="1" dirty="0">
                <a:solidFill>
                  <a:schemeClr val="bg1">
                    <a:lumMod val="50000"/>
                  </a:schemeClr>
                </a:solidFill>
              </a:rPr>
              <a:t>393 region-season pairs from 3.9k held-out region-seasons, </a:t>
            </a:r>
            <a:r>
              <a:rPr lang="en-US" sz="1600" b="0" i="1" dirty="0">
                <a:solidFill>
                  <a:schemeClr val="bg1">
                    <a:lumMod val="50000"/>
                  </a:schemeClr>
                </a:solidFill>
                <a:effectLst/>
                <a:latin typeface="+mn-lt"/>
              </a:rPr>
              <a:t>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trailing-mean k=7, forward-chained; acre-weighted MAE 0.167 vs. global mean 0.240; top 8 shown, ranked by predicted acres.</a:t>
            </a:r>
            <a:endParaRPr lang="en-US" sz="1600" i="1" dirty="0">
              <a:solidFill>
                <a:schemeClr val="bg1">
                  <a:lumMod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
        <p:nvSpPr>
          <p:cNvPr id="4" name="TextBox 3">
            <a:extLst>
              <a:ext uri="{FF2B5EF4-FFF2-40B4-BE49-F238E27FC236}">
                <a16:creationId xmlns:a16="http://schemas.microsoft.com/office/drawing/2014/main" id="{D0EB9E00-43ED-5DE7-8FD5-0D781696F061}"/>
              </a:ext>
            </a:extLst>
          </p:cNvPr>
          <p:cNvSpPr txBox="1"/>
          <p:nvPr/>
        </p:nvSpPr>
        <p:spPr>
          <a:xfrm>
            <a:off x="548639" y="6107966"/>
            <a:ext cx="11094415" cy="584775"/>
          </a:xfrm>
          <a:prstGeom prst="rect">
            <a:avLst/>
          </a:prstGeom>
          <a:noFill/>
        </p:spPr>
        <p:txBody>
          <a:bodyPr wrap="square">
            <a:spAutoFit/>
          </a:bodyPr>
          <a:lstStyle/>
          <a:p>
            <a:pPr algn="ctr"/>
            <a:r>
              <a:rPr lang="en-US" sz="1600" i="1" dirty="0">
                <a:solidFill>
                  <a:schemeClr val="bg1">
                    <a:lumMod val="50000"/>
                  </a:schemeClr>
                </a:solidFill>
              </a:rPr>
              <a:t>No new computation; composes three branch products. </a:t>
            </a:r>
            <a:br>
              <a:rPr lang="en-US" sz="1600" i="1" dirty="0">
                <a:solidFill>
                  <a:schemeClr val="bg1">
                    <a:lumMod val="50000"/>
                  </a:schemeClr>
                </a:solidFill>
              </a:rPr>
            </a:br>
            <a:r>
              <a:rPr lang="en-US" sz="1600" i="1" dirty="0">
                <a:solidFill>
                  <a:schemeClr val="bg1">
                    <a:lumMod val="50000"/>
                  </a:schemeClr>
                </a:solidFill>
              </a:rPr>
              <a:t>Tier 1 × Human, top-1 0.46 on 3.9k joined held-out cells.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50940"/>
            <a:ext cx="11094415" cy="2498120"/>
          </a:xfrm>
          <a:prstGeom prst="rect">
            <a:avLst/>
          </a:prstGeom>
          <a:noFill/>
        </p:spPr>
        <p:txBody>
          <a:bodyPr wrap="square" anchor="ctr">
            <a:spAutoFit/>
          </a:bodyPr>
          <a:lstStyle/>
          <a:p>
            <a:pPr algn="l"/>
            <a:r>
              <a:rPr lang="en-US" sz="4800" b="1" dirty="0">
                <a:solidFill>
                  <a:srgbClr val="1A1A1A"/>
                </a:solidFill>
                <a:latin typeface="Helvetica Neue"/>
              </a:rPr>
              <a:t>Rank the ground, not the fire.</a:t>
            </a:r>
          </a:p>
          <a:p>
            <a:pPr algn="l">
              <a:spcBef>
                <a:spcPts val="3400"/>
              </a:spcBef>
            </a:pPr>
            <a:r>
              <a:rPr lang="en-US" sz="4000" b="0" dirty="0">
                <a:solidFill>
                  <a:srgbClr val="E8622E"/>
                </a:solidFill>
                <a:latin typeface="Helvetica Neue"/>
              </a:rPr>
              <a:t>Where fires start is predictable. </a:t>
            </a:r>
            <a:br>
              <a:rPr lang="en-US" sz="4000" b="0" dirty="0">
                <a:solidFill>
                  <a:srgbClr val="E8622E"/>
                </a:solidFill>
                <a:latin typeface="Helvetica Neue"/>
              </a:rPr>
            </a:br>
            <a:r>
              <a:rPr lang="en-US" sz="4000" b="0" dirty="0">
                <a:solidFill>
                  <a:srgbClr val="E8622E"/>
                </a:solidFill>
                <a:latin typeface="Helvetica Neue"/>
              </a:rPr>
              <a:t>How big they get, before the season, is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6871</TotalTime>
  <Words>2303</Words>
  <Application>Microsoft Macintosh PowerPoint</Application>
  <PresentationFormat>Widescreen</PresentationFormat>
  <Paragraphs>110</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20</cp:revision>
  <dcterms:created xsi:type="dcterms:W3CDTF">2013-01-27T09:14:16Z</dcterms:created>
  <dcterms:modified xsi:type="dcterms:W3CDTF">2026-08-21T18:21:35Z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