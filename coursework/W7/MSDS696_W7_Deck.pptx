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76" r:id="rId8"/>
    <p:sldId id="263" r:id="rId9"/>
    <p:sldId id="264" r:id="rId10"/>
    <p:sldId id="266" r:id="rId11"/>
    <p:sldId id="267" r:id="rId12"/>
    <p:sldId id="265"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CFCFB"/>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83"/>
    <p:restoredTop sz="76575"/>
  </p:normalViewPr>
  <p:slideViewPr>
    <p:cSldViewPr snapToGrid="0" snapToObjects="1">
      <p:cViewPr varScale="1">
        <p:scale>
          <a:sx n="91" d="100"/>
          <a:sy n="91" d="100"/>
        </p:scale>
        <p:origin x="1544"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282128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a:t>
            </a:r>
          </a:p>
          <a:p>
            <a:r>
              <a:t>This is for a state or regional fire planner deciding, before the season starts, where to concentrate a fixed prevention and mitigation budget.</a:t>
            </a:r>
          </a:p>
          <a:p/>
          <a:p>
            <a:r>
              <a:t>It comes out of the federal record of U.S. wildfire occurrence -- two point three million fires, 1992 through 2020, each with a date, a location, a size in acres, and a cause. A quarter of those fires have no specific cause recorded -- and by acres, nearly a fifth. That turned out to be a finding rather than a nuisance.</a:t>
            </a:r>
          </a:p>
          <a:p/>
          <a:p>
            <a:r>
              <a:t>The recommendation, up front: for pre-season planning, stop targeting how big fires get. Target where they start.</a:t>
            </a:r>
          </a:p>
          <a:p/>
          <a:p>
            <a:r>
              <a:t>WATCH —</a:t>
            </a:r>
          </a:p>
          <a:p>
            <a:r>
              <a:t>- Setup is 20 seconds, not a topic. Three beats only -- who it is for, what the data is, where it is weak -- then the BLUF. Do not narrate the database schema; the grain and the joins belong in questions.</a:t>
            </a:r>
          </a:p>
          <a:p>
            <a:r>
              <a:t>- The missing-cause quarter is stated here, voluntarily, because a challenger will find it. Saying it first converts it from an ambush into evidence of rigor, and beat 18 pays it off as a product.</a:t>
            </a:r>
          </a:p>
          <a:p>
            <a:r>
              <a:t>- Both denominators are said aloud on purpose. Exact figures: 566,210 of 2,271,343 fires = 24.9% by count, but 33.2M of 179.4M acres = 18.5% by acres -- the missing fires are smaller than average. Beat 18's headline says "nearly a fifth of burned acres" and Tier 1's Unknown class is 18.5%; without the acres half of this sentence, an attentive listener hears slide 0 and beat 18 contradict each other. They do not -- they are two correct numbers on different denominators.</a:t>
            </a:r>
          </a:p>
          <a:p>
            <a:r>
              <a:t>- A TARGETING claim, not an efficacy one. Nothing in this project measures what a treatment achieves; the ranking says where fire is most likely to arrive, which is a necessary condition for sited work to pay off and not a sufficient one.</a:t>
            </a:r>
          </a:p>
          <a:p>
            <a:r>
              <a:t>- The deck closes on this same sentence at beat 19, so first and last statements match.</a:t>
            </a:r>
          </a:p>
          <a:p>
            <a:r>
              <a:t>- "Pre-season" is the scope of every null in this deck and it is load-bearing. Same-day conditions -- wind, timing, suppression availability -- were never tested.</a:t>
            </a:r>
          </a:p>
          <a:p>
            <a:r>
              <a:t>- Both halves are instructions, not predictions, which is why the opening needs no defense. The predictability claims arrive later, each with its own population.</a:t>
            </a:r>
          </a:p>
          <a:p/>
          <a:p>
            <a:r>
              <a:t>TIME -- 0:45</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a:t>
            </a:r>
          </a:p>
          <a:p>
            <a:r>
              <a:t>Fire runs on a calendar, and the two peaks are months apart. The dashed line is when fires start, the solid one is how much burns. Spring and summer start about the same number of fires -- summer burns almost four times the area.</a:t>
            </a:r>
          </a:p>
          <a:p/>
          <a:p>
            <a:r>
              <a:t>Fire management already works on a seasonal horizon -- there's a national outlook issued every month, four months ahead, to support long-range decisions about staffing and allocation. Prevention and mitigation are sited work decided months ahead too, so they need the same anticipation -- what to target, and where, before the season starts.</a:t>
            </a:r>
          </a:p>
          <a:p/>
          <a:p>
            <a:r>
              <a:t>EVIDENCE —</a:t>
            </a:r>
          </a:p>
          <a:p>
            <a:r>
              <a:t>- Most fires start in spring; most acres burn in summer.</a:t>
            </a:r>
          </a:p>
          <a:p>
            <a:r>
              <a:t>- MAM and JJA start nearly the same number of fires and differ 3.9x in acres.</a:t>
            </a:r>
          </a:p>
          <a:p>
            <a:r>
              <a:t>- The dashed curve is starts, the solid filled curve is acres. The narrow spike in early July is Independence Day.</a:t>
            </a:r>
          </a:p>
          <a:p/>
          <a:p>
            <a:r>
              <a:t>WATCH —</a:t>
            </a:r>
          </a:p>
          <a:p>
            <a:r>
              <a:t>- No axes and no magnitudes on this one -- it is a calendar, not a chart.</a:t>
            </a:r>
          </a:p>
          <a:p>
            <a:r>
              <a:t>- The offset is the point, not the seasonality. "Fire is seasonal" is not news to this audience. That starts and acres peak in *different months* is what says a count of ignitions is not a measure of consequence -- which is the distinction beats 16 and 17 land on.</a:t>
            </a:r>
          </a:p>
          <a:p>
            <a:r>
              <a:t>- Do not assert what agencies currently do. What is cited is that a *product exists* with a *stated purpose*, not what anyone does with it. Sources: NICC (2023), Predictive Services, Ch. 60 of the National Interagency Mobilization Guide -- the National Significant Wildland Fire Potential Outlook is issued monthly, covers four months, and the chapter states it "provides fire managers with the information needed to make long-range decisions concerning resource staffing and allocation"; and NICC (2026), a live issue, whose Outlook Objectives state it is "intended as a decision support tool" for "proactive decisions."</a:t>
            </a:r>
          </a:p>
          <a:p>
            <a:r>
              <a:t>- Three things the sources do NOT support, all of which earlier drafts of this line asserted: that the outlook "positions crews and equipment" (the text says decisions *concerning* staffing and allocation, not that resources move); that this is a suppression practice (Ch. 60 scopes Predictive Services to "operational management of and strategic planning for" fire management resources, broader than suppression); and anything about what coordinators think or prioritize. Say "fire management already works on a seasonal horizon," never "suppression coordinators think seasonally."</a:t>
            </a:r>
          </a:p>
          <a:p>
            <a:r>
              <a:t>- If asked about the July spike: it is Independence Day. July 4 is the single highest-start day in the record -- 16,907 starts, 2.71x the median day -- and July 5 is second at 15,141. Verified from `fires_clean.parquet`. It is a good answer to "does human cause really show up in the data," but do not build on it: no analysis in this deck rests on it.</a:t>
            </a:r>
          </a:p>
          <a:p/>
          <a:p>
            <a:r>
              <a:t>TIME -- 0:35</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a:t>
            </a:r>
          </a:p>
          <a:p>
            <a:r>
              <a:t>The unit here isn't a state. Fire follows terrain, vegetation and climate, not county lines -- so every fire is placed into an EPA Level III ecoregion, drawn from exactly those things. A hundred and five cover the country.</a:t>
            </a:r>
          </a:p>
          <a:p/>
          <a:p>
            <a:r>
              <a:t>Shade each by how much of its burned area is lightning-caused, and the map splits at about the hundredth meridian: natural in the West, human in the East, Alaska almost entirely natural. And it's not a gradient -- fifty regions sit below twenty percent natural, twenty-eight above eighty, only twenty-seven in between.</a:t>
            </a:r>
          </a:p>
          <a:p/>
          <a:p>
            <a:r>
              <a:t>So there's no national answer to what starts fires. There are regional ones.</a:t>
            </a:r>
          </a:p>
          <a:p/>
          <a:p>
            <a:r>
              <a:t>EVIDENCE —</a:t>
            </a:r>
          </a:p>
          <a:p>
            <a:r>
              <a:t>- All 105 Level III ecoregions, shaded by natural share of attributed acres.</a:t>
            </a:r>
          </a:p>
          <a:p>
            <a:r>
              <a:t>- A West/East split at roughly the 100th meridian; Alaska almost entirely natural.</a:t>
            </a:r>
          </a:p>
          <a:p>
            <a:r>
              <a:t>- Bimodal: 50 regions below 20% natural, 28 above 80%, only 27 in between.</a:t>
            </a:r>
          </a:p>
          <a:p/>
          <a:p>
            <a:r>
              <a:t>WATCH —</a:t>
            </a:r>
          </a:p>
          <a:p>
            <a:r>
              <a:t>- The ecoregion choice is a design decision, not a tested result. No state-boundary version was built and compared, so do not say ecoregions "work better than states." Say the unit was chosen because it is delineated from terrain, vegetation, soils and climate -- the things that govern how fire behaves -- where a state boundary is administrative. Omernik &amp; Griffith (2014) is the framework; Stephens et al. (2026) models fire at Level III grain.</a:t>
            </a:r>
          </a:p>
          <a:p>
            <a:r>
              <a:t>- This is the only slide that explains the unit, and beats 3–6 all run on it. If it gets cut for time, the ecoregion grain arrives unexplained.</a:t>
            </a:r>
          </a:p>
          <a:p>
            <a:r>
              <a:t>- Bimodality is the load-bearing part, not the West/East split. A gradient would mean every region needs its own blended strategy; two modes mean most regions have a dominant cause and a planner can act on it.</a:t>
            </a:r>
          </a:p>
          <a:p>
            <a:r>
              <a:t>- Shares of attributed acres -- the missing-cause mass named on the title slide is excluded from this shading. Beat 18 comes back for it.</a:t>
            </a:r>
          </a:p>
          <a:p/>
          <a:p>
            <a:r>
              <a:t>TIME -- 0:40</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a:t>
            </a:r>
          </a:p>
          <a:p>
            <a:r>
              <a:t>About three-quarters of the mix lands on the right cause.</a:t>
            </a:r>
          </a:p>
          <a:p>
            <a:endParaRPr/>
          </a:p>
          <a:p>
            <a:r>
              <a:t>EVIDENCE —</a:t>
            </a:r>
          </a:p>
          <a:p>
            <a:r>
              <a:t>- Three tiles, worst to best: national average mix 42%, an even split 52%, the region's own history 73%.</a:t>
            </a:r>
          </a:p>
          <a:p>
            <a:r>
              <a:t>- Acre-weighted TVD 0.580 / 0.485 / 0.266, forward-chained on 2010+, 3,949 held-out region-seasons.</a:t>
            </a:r>
          </a:p>
          <a:p>
            <a:endParaRPr/>
          </a:p>
          <a:p>
            <a:r>
              <a:t>WATCH —</a:t>
            </a:r>
          </a:p>
          <a:p>
            <a:r>
              <a:t>- Do NOT say "right 73% of the time." 73% is an error magnitude (1 - TVD), not a hit rate — there is no "of the time" to attach it to.</a:t>
            </a:r>
          </a:p>
          <a:p>
            <a:r>
              <a:t>- 72.7% top-1 agreement is a different number that DOES mean "of the time." Only use that phrasing if the slide on screen shows top-1.</a:t>
            </a:r>
          </a:p>
          <a:p>
            <a:r>
              <a:t>- The middle tile carries the weight: the national mix at 42% is worse than guessing, which is beat 2 reappearing as forecast error.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EVIDENCE —</a:t>
            </a:r>
          </a:p>
          <a:p>
            <a:r>
              <a:t>- Acre-weighted TVD falls 0.331 -&gt; 0.278 from one prior season to three, then flattens.</a:t>
            </a:r>
          </a:p>
          <a:p>
            <a:r>
              <a:t>- Every window from three up sits within 1.4 points of the best.</a:t>
            </a:r>
          </a:p>
          <a:p>
            <a:r>
              <a:t>- Cause composition is a standing property, not a yearly swing.</a:t>
            </a:r>
          </a:p>
          <a:p>
            <a:endParaRPr/>
          </a:p>
          <a:p>
            <a:r>
              <a:t>WATCH —</a:t>
            </a:r>
          </a:p>
          <a:p>
            <a:r>
              <a:t>- The compression candidate if the talk runs long — it tunes a parameter of beat 3's baseline rather than adding a claim.</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EVIDENCE —</a:t>
            </a:r>
          </a:p>
          <a:p>
            <a:r>
              <a:t>- Same three tiles as beat 3, one level deeper: how often the predicted leading human sub-cause is right out of 11.</a:t>
            </a:r>
          </a:p>
          <a:p>
            <a:r>
              <a:t>- An even split 9%, the national human mix 16%, the region's own history 54%.</a:t>
            </a:r>
          </a:p>
          <a:p>
            <a:r>
              <a:t>- Acre-weighted TVD 0.489 against the national mix's 0.643; 3,850 held-out region-seasons.</a:t>
            </a:r>
          </a:p>
          <a:p>
            <a:endParaRPr/>
          </a:p>
          <a:p>
            <a:r>
              <a:t>WATCH —</a:t>
            </a:r>
          </a:p>
          <a:p>
            <a:r>
              <a:t>- 54% is the Human floor on Human's own population. Do NOT quote it as an end-to-end number — end to end is 46.2%.</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r>
              <a:t>EVIDENCE —</a:t>
            </a:r>
          </a:p>
          <a:p>
            <a:r>
              <a:t>- Three rungs against the floor line: the region's own history names the leading human cause 54% of the time; gradient boosting on region character 36%; the same model given that history as a feature 47%.</a:t>
            </a:r>
          </a:p>
          <a:p>
            <a:r>
              <a:t>- Acre-weighted TVD 0.489 / 0.588 / 0.554.</a:t>
            </a:r>
          </a:p>
          <a:p>
            <a:r>
              <a:t>- Even handed the winning quantity, the model cannot beat taking its mean.</a:t>
            </a:r>
          </a:p>
          <a:p>
            <a:endParaRPr/>
          </a:p>
          <a:p>
            <a:r>
              <a:t>WATCH —</a:t>
            </a:r>
          </a:p>
          <a:p>
            <a:r>
              <a:t>- Concede the fair part: the rungs were run once at standard settings and not tuned. What the result rules out is "you never gave it the right features."</a:t>
            </a:r>
          </a:p>
          <a:p>
            <a:r>
              <a:t>- Keep this beat — it is the only one conceding a model was tried and lost, which is what keeps the nulls credible.</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a:t>
            </a:r>
          </a:p>
          <a:p>
            <a:r>
              <a:t>Everything so far has been a whole ecoregion — one number for an area the size of a small state. That is the right scale for deciding what to target, and the wrong one for deciding where to put anything. So from here the map breaks into cells of about sixty thousand acres, and the question changes with it: not how much will burn, but where fires start.</a:t>
            </a:r>
          </a:p>
          <a:p>
            <a:endParaRPr/>
          </a:p>
          <a:p>
            <a:r>
              <a:t>EVIDENCE —</a:t>
            </a:r>
          </a:p>
          <a:p>
            <a:r>
              <a:t>- Klamath hexes in two bands: the deep band is 6% of the region catching 32% of next season's starts (5.2x); the light band 29% for 60% (2.1x).</a:t>
            </a:r>
          </a:p>
          <a:p>
            <a:r>
              <a:t>- Held-out Spearman: Human +0.53, Natural +0.34.</a:t>
            </a:r>
          </a:p>
          <a:p>
            <a:endParaRPr/>
          </a:p>
          <a:p>
            <a:r>
              <a:t>WATCH —</a:t>
            </a:r>
          </a:p>
          <a:p>
            <a:r>
              <a:t>- The deck's ONE grain change, and three things change at once: unit (105 ecoregions -&gt; 36,234 hexes), target (acres -&gt; ignition counts), answer (shares -&gt; counts). The headline announces only the first; say the others.</a:t>
            </a:r>
          </a:p>
          <a:p>
            <a:r>
              <a:t>- This is NOT an acres model. Unsaid, the audience reads the capture curve as "32% of the burn under 6% of the ground" — a much stronger claim than the one being made. It is 32% of the STARTS.</a:t>
            </a:r>
          </a:p>
          <a:p>
            <a:r>
              <a:t>- The return decays fast: 90% of starts needs 77.8% of the ground at 1.16x. The ranking concentrates return; it does not eliminate the tail.</a:t>
            </a:r>
          </a:p>
          <a:p>
            <a:r>
              <a:t>- Q&amp;A companion: img/w6_capture_curve.png.</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SAY —</a:t>
            </a:r>
          </a:p>
          <a:p>
            <a:r>
              <a:rPr dirty="0"/>
              <a:t>I am not changing how many fires I predict. I am only changing where I say they will be. Same numbers, wrong places — and the prediction stops working.</a:t>
            </a:r>
          </a:p>
          <a:p>
            <a:endParaRPr dirty="0"/>
          </a:p>
          <a:p>
            <a:r>
              <a:rPr dirty="0"/>
              <a:t>EVIDENCE —</a:t>
            </a:r>
          </a:p>
          <a:p>
            <a:r>
              <a:rPr dirty="0"/>
              <a:t>- Two lines, forecast and shuffled: mean observed starts against mean predicted for 20 equal-count strata.</a:t>
            </a:r>
          </a:p>
          <a:p>
            <a:r>
              <a:rPr dirty="0"/>
              <a:t>- The forecast climbs the diagonal (top stratum predicted 4.7, observed 3.7); the same predictions dealt to the wrong hexes go flat at ~0.4.</a:t>
            </a:r>
          </a:p>
          <a:p>
            <a:r>
              <a:rPr dirty="0"/>
              <a:t>- Spearman +0.526 -&gt; +0.0002; MAE 0.43 -&gt; 0.77, worse than the uniform baseline's 0.70. 1.59M held-out hex-seasons.</a:t>
            </a:r>
          </a:p>
          <a:p>
            <a:endParaRPr dirty="0"/>
          </a:p>
          <a:p>
            <a:r>
              <a:rPr dirty="0"/>
              <a:t>WATCH —</a:t>
            </a:r>
          </a:p>
          <a:p>
            <a:r>
              <a:rPr dirty="0"/>
              <a:t>- Avoid "the model is accurate" — the line runs below the diagonal and under-predicts the busiest hexes. Say: it ranks well, it does not promise counts.</a:t>
            </a:r>
          </a:p>
          <a:p>
            <a:r>
              <a:rPr dirty="0"/>
              <a:t>- The shuffled line is FLAT, not low. It sits at ~0.4, the average across all hexes.</a:t>
            </a:r>
          </a:p>
          <a:p>
            <a:r>
              <a:rPr dirty="0"/>
              <a:t>- Why shuffled and not random: shuffling changes exactly one thing (the pairing), so the collapse is attributable to siting alone.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EVIDENCE —</a:t>
            </a:r>
          </a:p>
          <a:p>
            <a:r>
              <a:t>- Cumulative share of natural acres, cells ordered by acres burned, least to most.</a:t>
            </a:r>
          </a:p>
          <a:p>
            <a:r>
              <a:t>- The worst-burning 10% of cells hold 98% of the acres; the worst-burning 1% hold 55%.</a:t>
            </a:r>
          </a:p>
          <a:p>
            <a:endParaRPr/>
          </a:p>
          <a:p>
            <a:r>
              <a:t>WATCH —</a:t>
            </a:r>
          </a:p>
          <a:p>
            <a:r>
              <a:t>- This sets the stakes for beat 11 — it names which cells a forecast has to get right BEFORE any error is shown. Matched pair with 11; neither survives alone.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EVIDENCE —</a:t>
            </a:r>
          </a:p>
          <a:p>
            <a:r>
              <a:t>- Typical forecast error against how much a cell burned, both branches on one axis — the same axis and direction as beat 10, so the right edge means "the big burns" on both slides.</a:t>
            </a:r>
          </a:p>
          <a:p>
            <a:r>
              <a:t>- They track through the smallest third, then separate: natural runs 2-3x worse than human at the same cell size, reaching 687x on a median 8,061-acre cell against human's 19x on 240.</a:t>
            </a:r>
          </a:p>
          <a:p>
            <a:r>
              <a:t>- Cells under 1 acre excluded: 25.3% of FPA-FOD rows sit at exactly 0.1 acres (44.5% of natural fires), a reporting default rather than a measurement.</a:t>
            </a:r>
          </a:p>
          <a:p>
            <a:endParaRPr/>
          </a:p>
          <a:p>
            <a:r>
              <a:t>WATCH —</a:t>
            </a:r>
          </a:p>
          <a:p>
            <a:r>
              <a:t>- Quote the population with the number. Across ALL JJA natural burning cells the top decile is 269.8x on a median 2,970-acre cell; 854.9x is the six-forest-ecoregion population used for the covariate ladder. The like-for-like against Human is 269.8x, not 855x.</a:t>
            </a:r>
          </a:p>
          <a:p>
            <a:r>
              <a:t>- This licenses shipping two DIFFERENT products: Human can be ranked by expected acres, Natural cannot.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EVIDENCE —</a:t>
            </a:r>
          </a:p>
          <a:p>
            <a:r>
              <a:rPr dirty="0"/>
              <a:t>- Held-out Spearman by season, each branch scored separately in all 11 held-out years, band spanning the observed year-to-year range.</a:t>
            </a:r>
          </a:p>
          <a:p>
            <a:r>
              <a:rPr dirty="0"/>
              <a:t>- Human runs flat and high (median +0.47 to +0.61, peaking in spring); natural is a summer surface (+0.42 JJA, +0.07 DJF).</a:t>
            </a:r>
          </a:p>
          <a:p>
            <a:r>
              <a:rPr dirty="0"/>
              <a:t>- Human beats natural in all 44 season-years without exception.</a:t>
            </a:r>
          </a:p>
          <a:p>
            <a:endParaRPr dirty="0"/>
          </a:p>
          <a:p>
            <a:r>
              <a:rPr dirty="0"/>
              <a:t>WATCH —</a:t>
            </a:r>
          </a:p>
          <a:p>
            <a:r>
              <a:rPr dirty="0"/>
              <a:t>- The deck's only figure showing a distribution rather than a point estimate.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SAY —</a:t>
            </a:r>
          </a:p>
          <a:p>
            <a:r>
              <a:rPr dirty="0"/>
              <a:t>Raw: do greener hexes have more fires than browner hexes? Yes, moderately. Within-hex: when a hex is greener than its own normal, does it have more fires than its own normal? Barely. The first question is answered by which hex you are looking at; the second by which year it is — and a forecast needs the second.</a:t>
            </a:r>
          </a:p>
          <a:p>
            <a:endParaRPr dirty="0"/>
          </a:p>
          <a:p>
            <a:r>
              <a:rPr dirty="0"/>
              <a:t>EVIDENCE —</a:t>
            </a:r>
          </a:p>
          <a:p>
            <a:r>
              <a:rPr dirty="0"/>
              <a:t>- Two flat lines, one per branch, across the rungs: the region's own history, + drought, + fuel load, + both. Nothing moves.</a:t>
            </a:r>
          </a:p>
          <a:p>
            <a:r>
              <a:rPr dirty="0"/>
              <a:t>- Best gain on either branch is +0.0045; the y-axis runs from zero so a real effect would have been visible.</a:t>
            </a:r>
          </a:p>
          <a:p>
            <a:r>
              <a:rPr dirty="0"/>
              <a:t>- Both branches on the same 29,293 held-out cells (JJA, the six forest ecoregions).</a:t>
            </a:r>
          </a:p>
          <a:p>
            <a:r>
              <a:rPr dirty="0"/>
              <a:t>- The measured reason, spoken not drawn: </a:t>
            </a:r>
            <a:r>
              <a:rPr dirty="0" err="1"/>
              <a:t>pdsi</a:t>
            </a:r>
            <a:r>
              <a:rPr dirty="0"/>
              <a:t> -0.137 -&gt; -0.073 and NDVI +0.228 -&gt; +0.098 from raw to within-hex anomaly.</a:t>
            </a:r>
          </a:p>
          <a:p>
            <a:endParaRPr dirty="0"/>
          </a:p>
          <a:p>
            <a:r>
              <a:rPr dirty="0"/>
              <a:t>WATCH —</a:t>
            </a:r>
          </a:p>
          <a:p>
            <a:r>
              <a:rPr dirty="0"/>
              <a:t>- Frame as a REPAIR ATTEMPT, not a new topic — beat 11 leaves a failure on the table and beats 12-14 are what was done about it.</a:t>
            </a:r>
          </a:p>
          <a:p>
            <a:r>
              <a:rPr dirty="0"/>
              <a:t>- Resist "fires happen where the fuel is" — fuel state added +0.004. The correct compression is "fires happen where fires have happened."</a:t>
            </a:r>
          </a:p>
          <a:p>
            <a:r>
              <a:rPr dirty="0"/>
              <a:t>- Q&amp;A companion: </a:t>
            </a:r>
            <a:r>
              <a:rPr dirty="0" err="1"/>
              <a:t>img</a:t>
            </a:r>
            <a:r>
              <a:rPr dirty="0"/>
              <a:t>/w6_ndvi_variance.png, the place-vs-year split at 2.8x.</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EVIDENCE —</a:t>
            </a:r>
          </a:p>
          <a:p>
            <a:r>
              <a:rPr dirty="0"/>
              <a:t>- Deliberately the same figure as beat 12: same rungs, same axis, same zero-based scale, one line instead of two. The shape is the argument.</a:t>
            </a:r>
          </a:p>
          <a:p>
            <a:r>
              <a:rPr dirty="0"/>
              <a:t>- Climate + NDVI together +0.049, 26.6 SD above a covariate-shuffled control, holding across five forward-chaining split years (+0.012 to +0.066).</a:t>
            </a:r>
          </a:p>
          <a:p>
            <a:r>
              <a:rPr dirty="0"/>
              <a:t>- Neither half works alone — drought alone -0.008, fuel alone +0.001. Wet heavy fuel will not carry fire; dry bare ground has nothing to burn.</a:t>
            </a:r>
          </a:p>
          <a:p>
            <a:endParaRPr dirty="0"/>
          </a:p>
          <a:p>
            <a:r>
              <a:rPr dirty="0"/>
              <a:t>WATCH —</a:t>
            </a:r>
          </a:p>
          <a:p>
            <a:r>
              <a:rPr dirty="0"/>
              <a:t>- Different target and population from beat 12 (7,799 burning JJA cells, burn-conditional baseline) — comparable in SHAPE, not cell for cell.</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EVIDENCE —</a:t>
            </a:r>
          </a:p>
          <a:p>
            <a:r>
              <a:rPr dirty="0"/>
              <a:t>- Beat 11's axis again, with the covariate model laid over the baseline.</a:t>
            </a:r>
          </a:p>
          <a:p>
            <a:r>
              <a:rPr dirty="0"/>
              <a:t>- The shaded lens opens in deciles 6-9 (1-200 acre cells) and closes at the right edge where the two lines finish together: 855x -&gt; 868x on a median 5,073-acre cell.</a:t>
            </a:r>
          </a:p>
          <a:p>
            <a:r>
              <a:rPr dirty="0"/>
              <a:t>- Deciles 1-5 get materially worse — decile 1 nearly doubles, 18.8x -&gt; 35.9x. 780 held-out cells per decile.</a:t>
            </a:r>
          </a:p>
          <a:p>
            <a:endParaRPr dirty="0"/>
          </a:p>
          <a:p>
            <a:r>
              <a:rPr dirty="0"/>
              <a:t>WATCH —</a:t>
            </a:r>
          </a:p>
          <a:p>
            <a:r>
              <a:rPr dirty="0"/>
              <a:t>- Beat 10 is what makes this fatal rather than disappointing: the improvement misses the cells holding 98% of the acres.</a:t>
            </a:r>
          </a:p>
          <a:p>
            <a:r>
              <a:rPr dirty="0"/>
              <a:t>- Third beat landing the eye on the same right edge — the argument for reframing rather than tuning.</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a:t>
            </a:r>
          </a:p>
          <a:p>
            <a:r>
              <a:t>Remember what we did to make siting work: the region was too coarse to put anything anywhere, so we dropped down to a hex. This is the same problem on the other axis. We asked how big a fire gets over a whole season, and a season is too coarse a unit to answer that — what makes a fire run is the wind on a particular afternoon, whether crews were already committed, what time of day it started. We could not test that here, because same-day data is a different project. But the shape of the failure tells you where to look.</a:t>
            </a:r>
          </a:p>
          <a:p>
            <a:endParaRPr/>
          </a:p>
          <a:p>
            <a:r>
              <a:t>EVIDENCE —</a:t>
            </a:r>
          </a:p>
          <a:p>
            <a:r>
              <a:t>- The deck's only figure that plots no data, and its only one about the method rather than the fire. The solved row is closed, the untested row dashed.</a:t>
            </a:r>
          </a:p>
          <a:p>
            <a:r>
              <a:t>- The fourth time the project has met the same lesson: W4's pooled climate null, beat 12's places-not-years, beat 7's grain drop, now this.</a:t>
            </a:r>
          </a:p>
          <a:p>
            <a:endParaRPr/>
          </a:p>
          <a:p>
            <a:r>
              <a:t>WATCH —</a:t>
            </a:r>
          </a:p>
          <a:p>
            <a:r>
              <a:t>- Say "before the season" whenever the claim is stated as a null. "Megafire size is unpredictable" is a much bigger claim than anything measured here.</a:t>
            </a:r>
          </a:p>
          <a:p>
            <a:r>
              <a:t>- Do not apologise for the null. Five ablations, a shuffled control at 26.6 SD, and a gain that landed in the wrong deciles is a thorough negative result.</a:t>
            </a:r>
          </a:p>
          <a:p>
            <a:r>
              <a:t>- If asked "did you try hard enough?" — pre-season data was tried hard, same-day data was not tried at all. The second half is the open question, not a gap.</a:t>
            </a:r>
          </a:p>
          <a:p>
            <a:r>
              <a:t>- If the room needs "stop targeting it" said aloud, say it as the last sentence rather than the headline.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EVIDENCE —</a:t>
            </a:r>
          </a:p>
          <a:p>
            <a:r>
              <a:rPr dirty="0"/>
              <a:t>- Two bars in a common frame, no axis: a hex-season that ignites at all produces a &gt;=1,000-acre burn 6.7% of the time against 0.29% for one that does not — a 22.8x gate.</a:t>
            </a:r>
          </a:p>
          <a:p>
            <a:r>
              <a:rPr dirty="0"/>
              <a:t>- JJA natural, held-out years. Percentages printed because at true scale the 0.29% bar is nearly invisible — which is itself the finding.</a:t>
            </a:r>
          </a:p>
          <a:p>
            <a:endParaRPr dirty="0"/>
          </a:p>
          <a:p>
            <a:r>
              <a:rPr dirty="0"/>
              <a:t>WATCH —</a:t>
            </a:r>
          </a:p>
          <a:p>
            <a:r>
              <a:rPr dirty="0"/>
              <a:t>- Do not oversell the gate: it is necessary, not sufficient. 93% of igniting hex-seasons still produce nothing large. It narrows the field; it does not identify the fire.</a:t>
            </a:r>
          </a:p>
          <a:p>
            <a:r>
              <a:rPr dirty="0"/>
              <a:t>- This is the door beat 15 left open — size is not forecastable, but the event upstream of it is.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EVIDENCE —</a:t>
            </a:r>
          </a:p>
          <a:p>
            <a:r>
              <a:t>- One stacked bar over all 2,724 large-fire cells in the held-out years, split by how many times their hex ignited that season: 49% had exactly one, 21% two, 30% three or more.</a:t>
            </a:r>
          </a:p>
          <a:p>
            <a:r>
              <a:t>- Only the first segment carries color — it is the ground a planner would deprioritise by ranking on ignition count.</a:t>
            </a:r>
          </a:p>
          <a:p>
            <a:endParaRPr/>
          </a:p>
          <a:p>
            <a:r>
              <a:t>WATCH —</a:t>
            </a:r>
          </a:p>
          <a:p>
            <a:r>
              <a:t>- The rule is binary: does this place ignite, not how often.</a:t>
            </a:r>
          </a:p>
          <a:p>
            <a:r>
              <a:t>- If asked "doesn't a cell with more ignitions carry more risk?" — the rate does rise (19.1% at 11-20 ignitions vs 5.4% at one), but risk PER ignition falls 0.054 -&gt; 0.014, and 49% of large-fire cells had exactly one ignition.</a:t>
            </a:r>
          </a:p>
          <a:p>
            <a:r>
              <a:t>- Ignition count ranks burned area worse than the hex's own burn history does: Spearman +0.253 against +0.357.</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EVIDENCE —</a:t>
            </a:r>
          </a:p>
          <a:p>
            <a:r>
              <a:t>- The ranked triage list, headed by Southwestern Tablelands MAM at 1.17M predicted unattributed acres.</a:t>
            </a:r>
          </a:p>
          <a:p>
            <a:r>
              <a:t>- Ranked by acres rather than by rate: Central Great Plains has the worse attribution rate (66%) but a fifth of the burn.</a:t>
            </a:r>
          </a:p>
          <a:p>
            <a:r>
              <a:t>- Unknown-branch persistence: acre-weighted MAE 0.167 against the global mean's 0.240.</a:t>
            </a:r>
          </a:p>
          <a:p>
            <a:endParaRPr/>
          </a:p>
          <a:p>
            <a:r>
              <a:t>WATCH —</a:t>
            </a:r>
          </a:p>
          <a:p>
            <a:r>
              <a:t>- The third leg of the recommendation, delivered where it is actionable rather than as a finding in its own right.</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a:t>
            </a:r>
          </a:p>
          <a:p>
            <a:r>
              <a:t>Stop targeting how big fires get. Target where they start.</a:t>
            </a:r>
          </a:p>
          <a:p/>
          <a:p>
            <a:r>
              <a:t>EVIDENCE —</a:t>
            </a:r>
          </a:p>
          <a:p>
            <a:r>
              <a:t>- Three rows, one per Tier-1 class, ordered by share so the top row is where the acres are: Natural 58.9%, site by ignition, hex-season; Human 22.7%, rank causes by the acres they drive, ecoregion-season; Unknown 18.5%, fix the record underneath, ecoregion-season.</a:t>
            </a:r>
          </a:p>
          <a:p>
            <a:r>
              <a:t>- The boundary, on the line beneath: rank on all three — the order is trustworthy and the acre level much less so.</a:t>
            </a:r>
          </a:p>
          <a:p/>
          <a:p>
            <a:r>
              <a:t>WATCH —</a:t>
            </a:r>
          </a:p>
          <a:p>
            <a:r>
              <a:t>- A TARGETING claim, not an efficacy one. Nothing here measures what a treatment achieves — no before/after, no control, no counterfactual.</a:t>
            </a:r>
          </a:p>
          <a:p>
            <a:r>
              <a:t>- If asked "so if we treat those hexes, we cut the burn?" — say no, plainly. Davis et al. (2024) on severity reduction is separate evidence from someone else's study; cite it if asked, do not fold it in.</a:t>
            </a:r>
          </a:p>
          <a:p>
            <a:r>
              <a:t>- If they remember one thing: site the work against where fires start, because that is the one stage of the escalation this data can see in advance.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CFCFB"/>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8/15/26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p:cNvGrpSpPr/>
        <p:nvPr/>
      </p:nvGrpSpPr>
      <p:grpSpPr>
        <a:xfrm>
          <a:off x="0" y="0"/>
          <a:ext cx="0" cy="0"/>
          <a:chOff x="0" y="0"/>
          <a:chExt cx="0" cy="0"/>
        </a:xfrm>
      </p:grpSpPr>
      <p:sp>
        <p:nvSpPr>
          <p:cNvPr id="2" name="TextBox 1"/>
          <p:cNvSpPr txBox="1"/>
          <p:nvPr/>
        </p:nvSpPr>
        <p:spPr>
          <a:xfrm>
            <a:off x="548640" y="1516380"/>
            <a:ext cx="11094415" cy="3185159"/>
          </a:xfrm>
          <a:prstGeom prst="rect">
            <a:avLst/>
          </a:prstGeom>
          <a:noFill/>
        </p:spPr>
        <p:txBody>
          <a:bodyPr wrap="square">
            <a:spAutoFit/>
          </a:bodyPr>
          <a:lstStyle/>
          <a:p>
            <a:pPr algn="l"/>
            <a:r>
              <a:rPr lang="en-US" sz="2800" b="1" dirty="0">
                <a:solidFill>
                  <a:srgbClr val="1A1A1A"/>
                </a:solidFill>
                <a:latin typeface="Helvetica Neue"/>
              </a:rPr>
              <a:t>For pre-season planning:</a:t>
            </a:r>
          </a:p>
          <a:p>
            <a:pPr algn="l"/>
            <a:r>
              <a:rPr lang="en-US" sz="4400" b="1" dirty="0">
                <a:solidFill>
                  <a:srgbClr val="1A1A1A"/>
                </a:solidFill>
                <a:latin typeface="Helvetica Neue"/>
              </a:rPr>
              <a:t>Stop targeting how big fires get.</a:t>
            </a:r>
          </a:p>
          <a:p>
            <a:pPr algn="l"/>
            <a:r>
              <a:rPr lang="en-US" sz="4400" b="1" dirty="0">
                <a:solidFill>
                  <a:srgbClr val="1A1A1A"/>
                </a:solidFill>
                <a:latin typeface="Helvetica Neue"/>
              </a:rPr>
              <a:t>Target where they start.</a:t>
            </a:r>
          </a:p>
          <a:p>
            <a:pPr algn="l">
              <a:spcBef>
                <a:spcPts val="3000"/>
              </a:spcBef>
            </a:pPr>
            <a:r>
              <a:rPr sz="2000" b="0" dirty="0">
                <a:solidFill>
                  <a:srgbClr val="5A5A5A"/>
                </a:solidFill>
                <a:latin typeface="Helvetica Neue"/>
              </a:rPr>
              <a:t>Predicting Region-Season Wildfire Cause Patterns to Target Prevention and Mitigation</a:t>
            </a:r>
          </a:p>
          <a:p>
            <a:pPr algn="l">
              <a:spcBef>
                <a:spcPts val="1800"/>
              </a:spcBef>
            </a:pPr>
            <a:r>
              <a:rPr sz="1500" b="0" dirty="0">
                <a:solidFill>
                  <a:srgbClr val="5A5A5A"/>
                </a:solidFill>
                <a:latin typeface="Helvetica Neue"/>
              </a:rPr>
              <a:t>Craig Rudman  ·  MSDS 696 Practicum II  ·  Week 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p:cNvGrpSpPr/>
        <p:nvPr/>
      </p:nvGrpSpPr>
      <p:grpSpPr>
        <a:xfrm>
          <a:off x="0" y="0"/>
          <a:ext cx="0" cy="0"/>
          <a:chOff x="0" y="0"/>
          <a:chExt cx="0" cy="0"/>
        </a:xfrm>
      </p:grpSpPr>
      <p:pic>
        <p:nvPicPr>
          <p:cNvPr id="3" name="Picture 2" descr="w6_seasonality.png"/>
          <p:cNvPicPr>
            <a:picLocks noChangeAspect="1"/>
          </p:cNvPicPr>
          <p:nvPr/>
        </p:nvPicPr>
        <p:blipFill>
          <a:blip r:embed="rId3"/>
          <a:stretch>
            <a:fillRect/>
          </a:stretch>
        </p:blipFill>
        <p:spPr>
          <a:xfrm>
            <a:off x="1574793" y="748481"/>
            <a:ext cx="9042413" cy="5361037"/>
          </a:xfrm>
          <a:prstGeom prst="rect">
            <a:avLst/>
          </a:prstGeom>
        </p:spPr>
      </p:pic>
      <p:sp>
        <p:nvSpPr>
          <p:cNvPr id="2" name="TextBox 1"/>
          <p:cNvSpPr txBox="1"/>
          <p:nvPr/>
        </p:nvSpPr>
        <p:spPr>
          <a:xfrm>
            <a:off x="548640" y="411480"/>
            <a:ext cx="11094415" cy="1234440"/>
          </a:xfrm>
          <a:prstGeom prst="rect">
            <a:avLst/>
          </a:prstGeom>
          <a:noFill/>
        </p:spPr>
        <p:txBody>
          <a:bodyPr wrap="square" anchor="t">
            <a:spAutoFit/>
          </a:bodyPr>
          <a:lstStyle/>
          <a:p>
            <a:pPr algn="l"/>
            <a:r>
              <a:rPr sz="3000" b="1">
                <a:solidFill>
                  <a:srgbClr val="1A1A1A"/>
                </a:solidFill>
                <a:latin typeface="Helvetica Neue"/>
              </a:rPr>
              <a:t>Wildfires are seasonal.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p:cNvGrpSpPr/>
        <p:nvPr/>
      </p:nvGrpSpPr>
      <p:grpSpPr>
        <a:xfrm>
          <a:off x="0" y="0"/>
          <a:ext cx="0" cy="0"/>
          <a:chOff x="0" y="0"/>
          <a:chExt cx="0" cy="0"/>
        </a:xfrm>
      </p:grpSpPr>
      <p:pic>
        <p:nvPicPr>
          <p:cNvPr id="3" name="Picture 2" descr="w6_cause_map.png"/>
          <p:cNvPicPr>
            <a:picLocks noChangeAspect="1"/>
          </p:cNvPicPr>
          <p:nvPr/>
        </p:nvPicPr>
        <p:blipFill>
          <a:blip r:embed="rId3"/>
          <a:stretch>
            <a:fillRect/>
          </a:stretch>
        </p:blipFill>
        <p:spPr>
          <a:xfrm>
            <a:off x="1755674" y="862149"/>
            <a:ext cx="8680346" cy="5832566"/>
          </a:xfrm>
          <a:prstGeom prst="rect">
            <a:avLst/>
          </a:prstGeom>
        </p:spPr>
      </p:pic>
      <p:sp>
        <p:nvSpPr>
          <p:cNvPr id="2" name="TextBox 1"/>
          <p:cNvSpPr txBox="1"/>
          <p:nvPr/>
        </p:nvSpPr>
        <p:spPr>
          <a:xfrm>
            <a:off x="548640" y="411480"/>
            <a:ext cx="11094415" cy="1234440"/>
          </a:xfrm>
          <a:prstGeom prst="rect">
            <a:avLst/>
          </a:prstGeom>
          <a:noFill/>
        </p:spPr>
        <p:txBody>
          <a:bodyPr wrap="square" anchor="t">
            <a:spAutoFit/>
          </a:bodyPr>
          <a:lstStyle/>
          <a:p>
            <a:pPr algn="l"/>
            <a:r>
              <a:rPr sz="3000" b="1">
                <a:solidFill>
                  <a:srgbClr val="1A1A1A"/>
                </a:solidFill>
                <a:latin typeface="Helvetica Neue"/>
              </a:rPr>
              <a:t>Cause is regional, not national.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11094415" cy="1234440"/>
          </a:xfrm>
          <a:prstGeom prst="rect">
            <a:avLst/>
          </a:prstGeom>
          <a:noFill/>
        </p:spPr>
        <p:txBody>
          <a:bodyPr wrap="square" anchor="t">
            <a:spAutoFit/>
          </a:bodyPr>
          <a:lstStyle/>
          <a:p>
            <a:pPr algn="l"/>
            <a:r>
              <a:rPr sz="3000" b="1">
                <a:solidFill>
                  <a:srgbClr val="1A1A1A"/>
                </a:solidFill>
                <a:latin typeface="Helvetica Neue"/>
              </a:rPr>
              <a:t>A region's cause mix is stable enough to forecast.</a:t>
            </a:r>
          </a:p>
        </p:txBody>
      </p:sp>
      <p:pic>
        <p:nvPicPr>
          <p:cNvPr id="3" name="Picture 2" descr="w6_tier1_tiles.png"/>
          <p:cNvPicPr>
            <a:picLocks noChangeAspect="1"/>
          </p:cNvPicPr>
          <p:nvPr/>
        </p:nvPicPr>
        <p:blipFill>
          <a:blip r:embed="rId3"/>
          <a:stretch>
            <a:fillRect/>
          </a:stretch>
        </p:blipFill>
        <p:spPr>
          <a:xfrm>
            <a:off x="548640" y="1645920"/>
            <a:ext cx="11094415" cy="409733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11094415" cy="1234440"/>
          </a:xfrm>
          <a:prstGeom prst="rect">
            <a:avLst/>
          </a:prstGeom>
          <a:noFill/>
        </p:spPr>
        <p:txBody>
          <a:bodyPr wrap="square" anchor="t">
            <a:spAutoFit/>
          </a:bodyPr>
          <a:lstStyle/>
          <a:p>
            <a:pPr algn="l"/>
            <a:r>
              <a:rPr sz="3000" b="1">
                <a:solidFill>
                  <a:srgbClr val="1A1A1A"/>
                </a:solidFill>
                <a:latin typeface="Helvetica Neue"/>
              </a:rPr>
              <a:t>A few years of rolling average is enough.</a:t>
            </a:r>
          </a:p>
        </p:txBody>
      </p:sp>
      <p:pic>
        <p:nvPicPr>
          <p:cNvPr id="3" name="Picture 2" descr="w6_k_sweep.png"/>
          <p:cNvPicPr>
            <a:picLocks noChangeAspect="1"/>
          </p:cNvPicPr>
          <p:nvPr/>
        </p:nvPicPr>
        <p:blipFill>
          <a:blip r:embed="rId3"/>
          <a:stretch>
            <a:fillRect/>
          </a:stretch>
        </p:blipFill>
        <p:spPr>
          <a:xfrm>
            <a:off x="1236464" y="1028700"/>
            <a:ext cx="9718766" cy="547154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11094415" cy="1015663"/>
          </a:xfrm>
          <a:prstGeom prst="rect">
            <a:avLst/>
          </a:prstGeom>
          <a:noFill/>
        </p:spPr>
        <p:txBody>
          <a:bodyPr wrap="square" anchor="t">
            <a:spAutoFit/>
          </a:bodyPr>
          <a:lstStyle/>
          <a:p>
            <a:pPr algn="l"/>
            <a:r>
              <a:rPr lang="en-US" sz="3000" b="1" dirty="0">
                <a:solidFill>
                  <a:srgbClr val="1A1A1A"/>
                </a:solidFill>
                <a:latin typeface="Helvetica Neue"/>
              </a:rPr>
              <a:t>For human-cause wildfires</a:t>
            </a:r>
            <a:r>
              <a:rPr sz="3000" b="1" dirty="0">
                <a:solidFill>
                  <a:srgbClr val="1A1A1A"/>
                </a:solidFill>
                <a:latin typeface="Helvetica Neue"/>
              </a:rPr>
              <a:t>, history names the lead cause more often than not.</a:t>
            </a:r>
          </a:p>
        </p:txBody>
      </p:sp>
      <p:pic>
        <p:nvPicPr>
          <p:cNvPr id="3" name="Picture 2" descr="w6_human_tiles.png"/>
          <p:cNvPicPr>
            <a:picLocks noChangeAspect="1"/>
          </p:cNvPicPr>
          <p:nvPr/>
        </p:nvPicPr>
        <p:blipFill>
          <a:blip r:embed="rId3"/>
          <a:stretch>
            <a:fillRect/>
          </a:stretch>
        </p:blipFill>
        <p:spPr>
          <a:xfrm>
            <a:off x="548639" y="1857127"/>
            <a:ext cx="11094415" cy="409733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11094415" cy="553998"/>
          </a:xfrm>
          <a:prstGeom prst="rect">
            <a:avLst/>
          </a:prstGeom>
          <a:noFill/>
        </p:spPr>
        <p:txBody>
          <a:bodyPr wrap="square" anchor="t">
            <a:spAutoFit/>
          </a:bodyPr>
          <a:lstStyle/>
          <a:p>
            <a:pPr algn="l"/>
            <a:r>
              <a:rPr lang="en-US" sz="3000" b="1" dirty="0">
                <a:solidFill>
                  <a:srgbClr val="1A1A1A"/>
                </a:solidFill>
                <a:latin typeface="Helvetica Neue"/>
              </a:rPr>
              <a:t>A learned model made naming the leading cause worse.</a:t>
            </a:r>
          </a:p>
        </p:txBody>
      </p:sp>
      <p:pic>
        <p:nvPicPr>
          <p:cNvPr id="3" name="Picture 2" descr="w6_human_ladder.png"/>
          <p:cNvPicPr>
            <a:picLocks noChangeAspect="1"/>
          </p:cNvPicPr>
          <p:nvPr/>
        </p:nvPicPr>
        <p:blipFill>
          <a:blip r:embed="rId3"/>
          <a:srcRect r="10486"/>
          <a:stretch>
            <a:fillRect/>
          </a:stretch>
        </p:blipFill>
        <p:spPr>
          <a:xfrm>
            <a:off x="141770" y="1252024"/>
            <a:ext cx="11908154" cy="466155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p:cNvGrpSpPr/>
        <p:nvPr/>
      </p:nvGrpSpPr>
      <p:grpSpPr>
        <a:xfrm>
          <a:off x="0" y="0"/>
          <a:ext cx="0" cy="0"/>
          <a:chOff x="0" y="0"/>
          <a:chExt cx="0" cy="0"/>
        </a:xfrm>
      </p:grpSpPr>
      <p:pic>
        <p:nvPicPr>
          <p:cNvPr id="3" name="Picture 2" descr="w6_siting_glance.png"/>
          <p:cNvPicPr>
            <a:picLocks noChangeAspect="1"/>
          </p:cNvPicPr>
          <p:nvPr/>
        </p:nvPicPr>
        <p:blipFill>
          <a:blip r:embed="rId3"/>
          <a:stretch>
            <a:fillRect/>
          </a:stretch>
        </p:blipFill>
        <p:spPr>
          <a:xfrm>
            <a:off x="1853121" y="679268"/>
            <a:ext cx="8485758" cy="5967283"/>
          </a:xfrm>
          <a:prstGeom prst="rect">
            <a:avLst/>
          </a:prstGeom>
        </p:spPr>
      </p:pic>
      <p:sp>
        <p:nvSpPr>
          <p:cNvPr id="2" name="TextBox 1"/>
          <p:cNvSpPr txBox="1"/>
          <p:nvPr/>
        </p:nvSpPr>
        <p:spPr>
          <a:xfrm>
            <a:off x="548640" y="411480"/>
            <a:ext cx="11094415" cy="1234440"/>
          </a:xfrm>
          <a:prstGeom prst="rect">
            <a:avLst/>
          </a:prstGeom>
          <a:noFill/>
        </p:spPr>
        <p:txBody>
          <a:bodyPr wrap="square" anchor="t">
            <a:spAutoFit/>
          </a:bodyPr>
          <a:lstStyle/>
          <a:p>
            <a:pPr algn="l"/>
            <a:r>
              <a:rPr sz="3000" b="1">
                <a:solidFill>
                  <a:srgbClr val="1A1A1A"/>
                </a:solidFill>
                <a:latin typeface="Helvetica Neue"/>
              </a:rPr>
              <a:t>Where fires start is predictable, but not at ecoregion scale.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11094415" cy="1234440"/>
          </a:xfrm>
          <a:prstGeom prst="rect">
            <a:avLst/>
          </a:prstGeom>
          <a:noFill/>
        </p:spPr>
        <p:txBody>
          <a:bodyPr wrap="square" anchor="t">
            <a:spAutoFit/>
          </a:bodyPr>
          <a:lstStyle/>
          <a:p>
            <a:pPr algn="l"/>
            <a:r>
              <a:rPr sz="3000" b="1" dirty="0">
                <a:solidFill>
                  <a:srgbClr val="1A1A1A"/>
                </a:solidFill>
                <a:latin typeface="Helvetica Neue"/>
              </a:rPr>
              <a:t>That skill is spatial, not statistical luck.</a:t>
            </a:r>
          </a:p>
        </p:txBody>
      </p:sp>
      <p:pic>
        <p:nvPicPr>
          <p:cNvPr id="3" name="Picture 2" descr="w6_shuffled_control.png"/>
          <p:cNvPicPr>
            <a:picLocks noChangeAspect="1"/>
          </p:cNvPicPr>
          <p:nvPr/>
        </p:nvPicPr>
        <p:blipFill>
          <a:blip r:embed="rId3"/>
          <a:stretch>
            <a:fillRect/>
          </a:stretch>
        </p:blipFill>
        <p:spPr>
          <a:xfrm>
            <a:off x="1638332" y="1063550"/>
            <a:ext cx="8707451" cy="57944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11094415" cy="553998"/>
          </a:xfrm>
          <a:prstGeom prst="rect">
            <a:avLst/>
          </a:prstGeom>
          <a:noFill/>
        </p:spPr>
        <p:txBody>
          <a:bodyPr wrap="square" anchor="t">
            <a:spAutoFit/>
          </a:bodyPr>
          <a:lstStyle/>
          <a:p>
            <a:pPr algn="l"/>
            <a:r>
              <a:rPr sz="3000" b="1" dirty="0">
                <a:solidFill>
                  <a:srgbClr val="1A1A1A"/>
                </a:solidFill>
                <a:latin typeface="Helvetica Neue"/>
              </a:rPr>
              <a:t>Almost all the </a:t>
            </a:r>
            <a:r>
              <a:rPr lang="en-US" sz="3000" b="1" dirty="0">
                <a:solidFill>
                  <a:srgbClr val="1A1A1A"/>
                </a:solidFill>
                <a:latin typeface="Helvetica Neue"/>
              </a:rPr>
              <a:t>area burned</a:t>
            </a:r>
            <a:r>
              <a:rPr sz="3000" b="1" dirty="0">
                <a:solidFill>
                  <a:srgbClr val="1A1A1A"/>
                </a:solidFill>
                <a:latin typeface="Helvetica Neue"/>
              </a:rPr>
              <a:t> </a:t>
            </a:r>
            <a:r>
              <a:rPr lang="en-US" sz="3000" b="1" dirty="0">
                <a:solidFill>
                  <a:srgbClr val="1A1A1A"/>
                </a:solidFill>
                <a:latin typeface="Helvetica Neue"/>
              </a:rPr>
              <a:t>is</a:t>
            </a:r>
            <a:r>
              <a:rPr sz="3000" b="1" dirty="0">
                <a:solidFill>
                  <a:srgbClr val="1A1A1A"/>
                </a:solidFill>
                <a:latin typeface="Helvetica Neue"/>
              </a:rPr>
              <a:t> in almost none of the cells.</a:t>
            </a:r>
          </a:p>
        </p:txBody>
      </p:sp>
      <p:pic>
        <p:nvPicPr>
          <p:cNvPr id="3" name="Picture 2" descr="w6_acres_concentration.png"/>
          <p:cNvPicPr>
            <a:picLocks noChangeAspect="1"/>
          </p:cNvPicPr>
          <p:nvPr/>
        </p:nvPicPr>
        <p:blipFill>
          <a:blip r:embed="rId3"/>
          <a:stretch>
            <a:fillRect/>
          </a:stretch>
        </p:blipFill>
        <p:spPr>
          <a:xfrm>
            <a:off x="1871042" y="1084217"/>
            <a:ext cx="8449916" cy="568057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11094415" cy="1234440"/>
          </a:xfrm>
          <a:prstGeom prst="rect">
            <a:avLst/>
          </a:prstGeom>
          <a:noFill/>
        </p:spPr>
        <p:txBody>
          <a:bodyPr wrap="square" anchor="t">
            <a:spAutoFit/>
          </a:bodyPr>
          <a:lstStyle/>
          <a:p>
            <a:pPr algn="l"/>
            <a:r>
              <a:rPr sz="2500" b="1">
                <a:solidFill>
                  <a:srgbClr val="1A1A1A"/>
                </a:solidFill>
                <a:latin typeface="Helvetica Neue"/>
              </a:rPr>
              <a:t>Up to a point, both are predictable. Past that point, natural fire is harder.</a:t>
            </a:r>
          </a:p>
        </p:txBody>
      </p:sp>
      <p:pic>
        <p:nvPicPr>
          <p:cNvPr id="3" name="Picture 2" descr="w6_branch_deciles.png"/>
          <p:cNvPicPr>
            <a:picLocks noChangeAspect="1"/>
          </p:cNvPicPr>
          <p:nvPr/>
        </p:nvPicPr>
        <p:blipFill>
          <a:blip r:embed="rId3"/>
          <a:stretch>
            <a:fillRect/>
          </a:stretch>
        </p:blipFill>
        <p:spPr>
          <a:xfrm>
            <a:off x="1342966" y="1175656"/>
            <a:ext cx="9506067" cy="549946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p:cNvGrpSpPr/>
        <p:nvPr/>
      </p:nvGrpSpPr>
      <p:grpSpPr>
        <a:xfrm>
          <a:off x="0" y="0"/>
          <a:ext cx="0" cy="0"/>
          <a:chOff x="0" y="0"/>
          <a:chExt cx="0" cy="0"/>
        </a:xfrm>
      </p:grpSpPr>
      <p:pic>
        <p:nvPicPr>
          <p:cNvPr id="3" name="Picture 2" descr="w6_season_skill.png"/>
          <p:cNvPicPr>
            <a:picLocks noChangeAspect="1"/>
          </p:cNvPicPr>
          <p:nvPr/>
        </p:nvPicPr>
        <p:blipFill>
          <a:blip r:embed="rId3"/>
          <a:stretch>
            <a:fillRect/>
          </a:stretch>
        </p:blipFill>
        <p:spPr>
          <a:xfrm>
            <a:off x="2033130" y="1654895"/>
            <a:ext cx="8125739" cy="4791625"/>
          </a:xfrm>
          <a:prstGeom prst="rect">
            <a:avLst/>
          </a:prstGeom>
        </p:spPr>
      </p:pic>
      <p:sp>
        <p:nvSpPr>
          <p:cNvPr id="2" name="TextBox 1"/>
          <p:cNvSpPr txBox="1"/>
          <p:nvPr/>
        </p:nvSpPr>
        <p:spPr>
          <a:xfrm>
            <a:off x="548640" y="411480"/>
            <a:ext cx="11094415" cy="1015663"/>
          </a:xfrm>
          <a:prstGeom prst="rect">
            <a:avLst/>
          </a:prstGeom>
          <a:noFill/>
        </p:spPr>
        <p:txBody>
          <a:bodyPr wrap="square" anchor="t">
            <a:spAutoFit/>
          </a:bodyPr>
          <a:lstStyle/>
          <a:p>
            <a:pPr algn="l"/>
            <a:r>
              <a:rPr sz="3000" b="1" dirty="0">
                <a:solidFill>
                  <a:srgbClr val="1A1A1A"/>
                </a:solidFill>
                <a:latin typeface="Helvetica Neue"/>
              </a:rPr>
              <a:t>Human fire is predictable year-round; </a:t>
            </a:r>
            <a:r>
              <a:rPr lang="en-US" sz="3000" b="1" dirty="0">
                <a:solidFill>
                  <a:srgbClr val="1A1A1A"/>
                </a:solidFill>
                <a:latin typeface="Helvetica Neue"/>
              </a:rPr>
              <a:t>natural fires</a:t>
            </a:r>
            <a:r>
              <a:rPr sz="3000" b="1" dirty="0">
                <a:solidFill>
                  <a:srgbClr val="1A1A1A"/>
                </a:solidFill>
                <a:latin typeface="Helvetica Neue"/>
              </a:rPr>
              <a:t> only in summer.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11094415" cy="861774"/>
          </a:xfrm>
          <a:prstGeom prst="rect">
            <a:avLst/>
          </a:prstGeom>
          <a:noFill/>
        </p:spPr>
        <p:txBody>
          <a:bodyPr wrap="square" anchor="t">
            <a:spAutoFit/>
          </a:bodyPr>
          <a:lstStyle/>
          <a:p>
            <a:pPr algn="l"/>
            <a:r>
              <a:rPr sz="2500" b="1" dirty="0">
                <a:solidFill>
                  <a:srgbClr val="1A1A1A"/>
                </a:solidFill>
                <a:latin typeface="Helvetica Neue"/>
              </a:rPr>
              <a:t>We tried to fix </a:t>
            </a:r>
            <a:r>
              <a:rPr lang="en-US" sz="2500" b="1" dirty="0">
                <a:solidFill>
                  <a:srgbClr val="1A1A1A"/>
                </a:solidFill>
                <a:latin typeface="Helvetica Neue"/>
              </a:rPr>
              <a:t>that</a:t>
            </a:r>
            <a:r>
              <a:rPr sz="2500" b="1" dirty="0">
                <a:solidFill>
                  <a:srgbClr val="1A1A1A"/>
                </a:solidFill>
                <a:latin typeface="Helvetica Neue"/>
              </a:rPr>
              <a:t> with</a:t>
            </a:r>
            <a:r>
              <a:rPr lang="en-US" sz="2500" b="1" dirty="0">
                <a:solidFill>
                  <a:srgbClr val="1A1A1A"/>
                </a:solidFill>
                <a:latin typeface="Helvetica Neue"/>
              </a:rPr>
              <a:t> </a:t>
            </a:r>
            <a:r>
              <a:rPr sz="2500" b="1" dirty="0">
                <a:solidFill>
                  <a:srgbClr val="1A1A1A"/>
                </a:solidFill>
                <a:latin typeface="Helvetica Neue"/>
              </a:rPr>
              <a:t>drought and fuel, but where fires start is a property of the place, not of the year.</a:t>
            </a:r>
          </a:p>
        </p:txBody>
      </p:sp>
      <p:pic>
        <p:nvPicPr>
          <p:cNvPr id="3" name="Picture 2" descr="w6_ignition_ladder.png"/>
          <p:cNvPicPr>
            <a:picLocks noChangeAspect="1"/>
          </p:cNvPicPr>
          <p:nvPr/>
        </p:nvPicPr>
        <p:blipFill>
          <a:blip r:embed="rId3"/>
          <a:stretch>
            <a:fillRect/>
          </a:stretch>
        </p:blipFill>
        <p:spPr>
          <a:xfrm>
            <a:off x="1093296" y="1783080"/>
            <a:ext cx="10005102" cy="46634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11094415" cy="1234440"/>
          </a:xfrm>
          <a:prstGeom prst="rect">
            <a:avLst/>
          </a:prstGeom>
          <a:noFill/>
        </p:spPr>
        <p:txBody>
          <a:bodyPr wrap="square" anchor="t">
            <a:spAutoFit/>
          </a:bodyPr>
          <a:lstStyle/>
          <a:p>
            <a:pPr algn="l"/>
            <a:r>
              <a:rPr sz="3000" b="1" dirty="0">
                <a:solidFill>
                  <a:srgbClr val="1A1A1A"/>
                </a:solidFill>
                <a:latin typeface="Helvetica Neue"/>
              </a:rPr>
              <a:t>The same data does predict how much burns.</a:t>
            </a:r>
          </a:p>
        </p:txBody>
      </p:sp>
      <p:pic>
        <p:nvPicPr>
          <p:cNvPr id="3" name="Picture 2" descr="w6_acres_ladder.png"/>
          <p:cNvPicPr>
            <a:picLocks noChangeAspect="1"/>
          </p:cNvPicPr>
          <p:nvPr/>
        </p:nvPicPr>
        <p:blipFill>
          <a:blip r:embed="rId3"/>
          <a:stretch>
            <a:fillRect/>
          </a:stretch>
        </p:blipFill>
        <p:spPr>
          <a:xfrm>
            <a:off x="548640" y="1097280"/>
            <a:ext cx="10897337" cy="500307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11094415" cy="553998"/>
          </a:xfrm>
          <a:prstGeom prst="rect">
            <a:avLst/>
          </a:prstGeom>
          <a:noFill/>
        </p:spPr>
        <p:txBody>
          <a:bodyPr wrap="square" anchor="t">
            <a:spAutoFit/>
          </a:bodyPr>
          <a:lstStyle/>
          <a:p>
            <a:pPr algn="l"/>
            <a:r>
              <a:rPr sz="3000" b="1" dirty="0">
                <a:solidFill>
                  <a:srgbClr val="1A1A1A"/>
                </a:solidFill>
                <a:latin typeface="Helvetica Neue"/>
              </a:rPr>
              <a:t>But the gain </a:t>
            </a:r>
            <a:r>
              <a:rPr lang="en-US" sz="3000" b="1" dirty="0">
                <a:solidFill>
                  <a:srgbClr val="1A1A1A"/>
                </a:solidFill>
                <a:latin typeface="Helvetica Neue"/>
              </a:rPr>
              <a:t>misses where we need it most.</a:t>
            </a:r>
            <a:endParaRPr sz="3000" b="1" dirty="0">
              <a:solidFill>
                <a:srgbClr val="1A1A1A"/>
              </a:solidFill>
              <a:latin typeface="Helvetica Neue"/>
            </a:endParaRPr>
          </a:p>
        </p:txBody>
      </p:sp>
      <p:pic>
        <p:nvPicPr>
          <p:cNvPr id="3" name="Picture 2" descr="w6_gain_landing.png"/>
          <p:cNvPicPr>
            <a:picLocks noChangeAspect="1"/>
          </p:cNvPicPr>
          <p:nvPr/>
        </p:nvPicPr>
        <p:blipFill>
          <a:blip r:embed="rId3"/>
          <a:stretch>
            <a:fillRect/>
          </a:stretch>
        </p:blipFill>
        <p:spPr>
          <a:xfrm>
            <a:off x="1621332" y="1081266"/>
            <a:ext cx="8606885" cy="577673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p:cNvGrpSpPr/>
        <p:nvPr/>
      </p:nvGrpSpPr>
      <p:grpSpPr>
        <a:xfrm>
          <a:off x="0" y="0"/>
          <a:ext cx="0" cy="0"/>
          <a:chOff x="0" y="0"/>
          <a:chExt cx="0" cy="0"/>
        </a:xfrm>
      </p:grpSpPr>
      <p:pic>
        <p:nvPicPr>
          <p:cNvPr id="3" name="Picture 2" descr="w6_grain_parallel.png"/>
          <p:cNvPicPr>
            <a:picLocks noChangeAspect="1"/>
          </p:cNvPicPr>
          <p:nvPr/>
        </p:nvPicPr>
        <p:blipFill>
          <a:blip r:embed="rId3"/>
          <a:stretch>
            <a:fillRect/>
          </a:stretch>
        </p:blipFill>
        <p:spPr>
          <a:xfrm>
            <a:off x="975886" y="1188719"/>
            <a:ext cx="10240228" cy="5081451"/>
          </a:xfrm>
          <a:prstGeom prst="rect">
            <a:avLst/>
          </a:prstGeom>
        </p:spPr>
      </p:pic>
      <p:sp>
        <p:nvSpPr>
          <p:cNvPr id="2" name="TextBox 1"/>
          <p:cNvSpPr txBox="1"/>
          <p:nvPr/>
        </p:nvSpPr>
        <p:spPr>
          <a:xfrm>
            <a:off x="548640" y="411480"/>
            <a:ext cx="11094415" cy="1015663"/>
          </a:xfrm>
          <a:prstGeom prst="rect">
            <a:avLst/>
          </a:prstGeom>
          <a:noFill/>
        </p:spPr>
        <p:txBody>
          <a:bodyPr wrap="square" anchor="t">
            <a:spAutoFit/>
          </a:bodyPr>
          <a:lstStyle/>
          <a:p>
            <a:pPr algn="l"/>
            <a:r>
              <a:rPr lang="en-US" sz="3000" b="1" dirty="0">
                <a:solidFill>
                  <a:srgbClr val="1A1A1A"/>
                </a:solidFill>
                <a:latin typeface="Helvetica Neue"/>
              </a:rPr>
              <a:t>Predicting where</a:t>
            </a:r>
            <a:r>
              <a:rPr sz="3000" b="1" dirty="0">
                <a:solidFill>
                  <a:srgbClr val="1A1A1A"/>
                </a:solidFill>
                <a:latin typeface="Helvetica Neue"/>
              </a:rPr>
              <a:t> </a:t>
            </a:r>
            <a:r>
              <a:rPr lang="en-US" sz="3000" b="1" dirty="0">
                <a:solidFill>
                  <a:srgbClr val="1A1A1A"/>
                </a:solidFill>
                <a:latin typeface="Helvetica Neue"/>
              </a:rPr>
              <a:t>fires start </a:t>
            </a:r>
            <a:r>
              <a:rPr sz="3000" b="1" dirty="0">
                <a:solidFill>
                  <a:srgbClr val="1A1A1A"/>
                </a:solidFill>
                <a:latin typeface="Helvetica Neue"/>
              </a:rPr>
              <a:t>needed </a:t>
            </a:r>
            <a:r>
              <a:rPr lang="en-US" sz="3000" b="1" dirty="0">
                <a:solidFill>
                  <a:srgbClr val="1A1A1A"/>
                </a:solidFill>
                <a:latin typeface="Helvetica Neue"/>
              </a:rPr>
              <a:t>a finer spatial scale</a:t>
            </a:r>
            <a:r>
              <a:rPr sz="3000" b="1" dirty="0">
                <a:solidFill>
                  <a:srgbClr val="1A1A1A"/>
                </a:solidFill>
                <a:latin typeface="Helvetica Neue"/>
              </a:rPr>
              <a:t>. </a:t>
            </a:r>
            <a:r>
              <a:rPr lang="en-US" sz="3000" b="1" dirty="0">
                <a:solidFill>
                  <a:srgbClr val="1A1A1A"/>
                </a:solidFill>
                <a:latin typeface="Helvetica Neue"/>
              </a:rPr>
              <a:t>Predicting size may need a shorter time scale.</a:t>
            </a:r>
            <a:endParaRPr sz="3000" b="1" dirty="0">
              <a:solidFill>
                <a:srgbClr val="1A1A1A"/>
              </a:solidFill>
              <a:latin typeface="Helvetica Neue"/>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11094415" cy="1015663"/>
          </a:xfrm>
          <a:prstGeom prst="rect">
            <a:avLst/>
          </a:prstGeom>
          <a:noFill/>
        </p:spPr>
        <p:txBody>
          <a:bodyPr wrap="square" anchor="t">
            <a:spAutoFit/>
          </a:bodyPr>
          <a:lstStyle/>
          <a:p>
            <a:pPr algn="l"/>
            <a:r>
              <a:rPr lang="en-US" sz="3000" b="1" dirty="0">
                <a:solidFill>
                  <a:srgbClr val="1A1A1A"/>
                </a:solidFill>
                <a:latin typeface="Helvetica Neue"/>
              </a:rPr>
              <a:t>Most starts don’t become big fires.  But big fires usually burn in the hex where they started.</a:t>
            </a:r>
            <a:endParaRPr sz="3000" b="1" dirty="0">
              <a:solidFill>
                <a:srgbClr val="1A1A1A"/>
              </a:solidFill>
              <a:latin typeface="Helvetica Neue"/>
            </a:endParaRPr>
          </a:p>
        </p:txBody>
      </p:sp>
      <p:pic>
        <p:nvPicPr>
          <p:cNvPr id="3" name="Picture 2" descr="w6_ignition_gate.png"/>
          <p:cNvPicPr>
            <a:picLocks noChangeAspect="1"/>
          </p:cNvPicPr>
          <p:nvPr/>
        </p:nvPicPr>
        <p:blipFill>
          <a:blip r:embed="rId3"/>
          <a:stretch>
            <a:fillRect/>
          </a:stretch>
        </p:blipFill>
        <p:spPr>
          <a:xfrm>
            <a:off x="1717254" y="1553862"/>
            <a:ext cx="8757491" cy="489265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11094415" cy="1234440"/>
          </a:xfrm>
          <a:prstGeom prst="rect">
            <a:avLst/>
          </a:prstGeom>
          <a:noFill/>
        </p:spPr>
        <p:txBody>
          <a:bodyPr wrap="square" anchor="t">
            <a:spAutoFit/>
          </a:bodyPr>
          <a:lstStyle/>
          <a:p>
            <a:pPr algn="l"/>
            <a:r>
              <a:rPr sz="3000" b="1">
                <a:solidFill>
                  <a:srgbClr val="1A1A1A"/>
                </a:solidFill>
                <a:latin typeface="Helvetica Neue"/>
              </a:rPr>
              <a:t>One ignition is enough.</a:t>
            </a:r>
          </a:p>
        </p:txBody>
      </p:sp>
      <p:pic>
        <p:nvPicPr>
          <p:cNvPr id="3" name="Picture 2" descr="w6_one_is_enough.png"/>
          <p:cNvPicPr>
            <a:picLocks noChangeAspect="1"/>
          </p:cNvPicPr>
          <p:nvPr/>
        </p:nvPicPr>
        <p:blipFill>
          <a:blip r:embed="rId3"/>
          <a:stretch>
            <a:fillRect/>
          </a:stretch>
        </p:blipFill>
        <p:spPr>
          <a:xfrm>
            <a:off x="729239" y="1783080"/>
            <a:ext cx="10733217" cy="466344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11094415" cy="1234440"/>
          </a:xfrm>
          <a:prstGeom prst="rect">
            <a:avLst/>
          </a:prstGeom>
          <a:noFill/>
        </p:spPr>
        <p:txBody>
          <a:bodyPr wrap="square" anchor="t">
            <a:spAutoFit/>
          </a:bodyPr>
          <a:lstStyle/>
          <a:p>
            <a:pPr algn="l"/>
            <a:r>
              <a:rPr sz="2500" b="1">
                <a:solidFill>
                  <a:srgbClr val="1A1A1A"/>
                </a:solidFill>
                <a:latin typeface="Helvetica Neue"/>
              </a:rPr>
              <a:t>Nearly a fifth of burned acres have no specific cause — and that gap is itself forecastable.</a:t>
            </a:r>
          </a:p>
        </p:txBody>
      </p:sp>
      <p:pic>
        <p:nvPicPr>
          <p:cNvPr id="3" name="Picture 2" descr="w6_unknown_triage.png"/>
          <p:cNvPicPr>
            <a:picLocks noChangeAspect="1"/>
          </p:cNvPicPr>
          <p:nvPr/>
        </p:nvPicPr>
        <p:blipFill>
          <a:blip r:embed="rId3"/>
          <a:stretch>
            <a:fillRect/>
          </a:stretch>
        </p:blipFill>
        <p:spPr>
          <a:xfrm>
            <a:off x="465305" y="1645920"/>
            <a:ext cx="11726695" cy="4189363"/>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11094415" cy="861774"/>
          </a:xfrm>
          <a:prstGeom prst="rect">
            <a:avLst/>
          </a:prstGeom>
          <a:noFill/>
        </p:spPr>
        <p:txBody>
          <a:bodyPr wrap="square" anchor="t">
            <a:spAutoFit/>
          </a:bodyPr>
          <a:lstStyle/>
          <a:p>
            <a:pPr algn="l"/>
            <a:r>
              <a:rPr sz="2500" b="1" dirty="0">
                <a:solidFill>
                  <a:srgbClr val="1A1A1A"/>
                </a:solidFill>
                <a:latin typeface="Helvetica Neue"/>
              </a:rPr>
              <a:t>Target causes by region. Site the </a:t>
            </a:r>
            <a:r>
              <a:rPr lang="en-US" sz="2500" b="1" dirty="0">
                <a:solidFill>
                  <a:srgbClr val="1A1A1A"/>
                </a:solidFill>
                <a:latin typeface="Helvetica Neue"/>
              </a:rPr>
              <a:t>pre-season </a:t>
            </a:r>
            <a:r>
              <a:rPr sz="2500" b="1" dirty="0">
                <a:solidFill>
                  <a:srgbClr val="1A1A1A"/>
                </a:solidFill>
                <a:latin typeface="Helvetica Neue"/>
              </a:rPr>
              <a:t>work by ignition. Fix the record where it says neither.</a:t>
            </a:r>
          </a:p>
        </p:txBody>
      </p:sp>
      <p:pic>
        <p:nvPicPr>
          <p:cNvPr id="3" name="Picture 2" descr="w6_recommendation.png"/>
          <p:cNvPicPr>
            <a:picLocks noChangeAspect="1"/>
          </p:cNvPicPr>
          <p:nvPr/>
        </p:nvPicPr>
        <p:blipFill>
          <a:blip r:embed="rId3"/>
          <a:stretch>
            <a:fillRect/>
          </a:stretch>
        </p:blipFill>
        <p:spPr>
          <a:xfrm>
            <a:off x="1083212" y="1409350"/>
            <a:ext cx="9332827" cy="503717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2728</TotalTime>
  <Words>3090</Words>
  <Application>Microsoft Macintosh PowerPoint</Application>
  <PresentationFormat>Widescreen</PresentationFormat>
  <Paragraphs>190</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Helvetica Neue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Rudman, Craig E</cp:lastModifiedBy>
  <cp:revision>6</cp:revision>
  <dcterms:created xsi:type="dcterms:W3CDTF">2013-01-27T09:14:16Z</dcterms:created>
  <dcterms:modified xsi:type="dcterms:W3CDTF">2026-08-16T01:42:17Z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6de1d5b-8b4b-4e4e-a8a1-d2976158103f_Enabled">
    <vt:lpwstr>true</vt:lpwstr>
  </property>
  <property fmtid="{D5CDD505-2E9C-101B-9397-08002B2CF9AE}" pid="3" name="MSIP_Label_a6de1d5b-8b4b-4e4e-a8a1-d2976158103f_SetDate">
    <vt:lpwstr>2026-08-12T02:20:59Z</vt:lpwstr>
  </property>
  <property fmtid="{D5CDD505-2E9C-101B-9397-08002B2CF9AE}" pid="4" name="MSIP_Label_a6de1d5b-8b4b-4e4e-a8a1-d2976158103f_Method">
    <vt:lpwstr>Standard</vt:lpwstr>
  </property>
  <property fmtid="{D5CDD505-2E9C-101B-9397-08002B2CF9AE}" pid="5" name="MSIP_Label_a6de1d5b-8b4b-4e4e-a8a1-d2976158103f_Name">
    <vt:lpwstr>defa4170-0d19-0005-0004-bc88714345d2</vt:lpwstr>
  </property>
  <property fmtid="{D5CDD505-2E9C-101B-9397-08002B2CF9AE}" pid="6" name="MSIP_Label_a6de1d5b-8b4b-4e4e-a8a1-d2976158103f_SiteId">
    <vt:lpwstr>ecd4c5d9-c2fe-4522-afd1-f0d20755d9d7</vt:lpwstr>
  </property>
  <property fmtid="{D5CDD505-2E9C-101B-9397-08002B2CF9AE}" pid="7" name="MSIP_Label_a6de1d5b-8b4b-4e4e-a8a1-d2976158103f_ActionId">
    <vt:lpwstr>602d701d-3531-41e8-89c3-7e5e0b774ab1</vt:lpwstr>
  </property>
  <property fmtid="{D5CDD505-2E9C-101B-9397-08002B2CF9AE}" pid="8" name="MSIP_Label_a6de1d5b-8b4b-4e4e-a8a1-d2976158103f_ContentBits">
    <vt:lpwstr>0</vt:lpwstr>
  </property>
  <property fmtid="{D5CDD505-2E9C-101B-9397-08002B2CF9AE}" pid="9" name="MSIP_Label_a6de1d5b-8b4b-4e4e-a8a1-d2976158103f_Tag">
    <vt:lpwstr>50, 3, 0, 1</vt:lpwstr>
  </property>
</Properties>
</file>