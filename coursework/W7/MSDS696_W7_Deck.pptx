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76" r:id="rId8"/>
    <p:sldId id="263" r:id="rId9"/>
    <p:sldId id="264" r:id="rId10"/>
    <p:sldId id="266" r:id="rId11"/>
    <p:sldId id="267" r:id="rId12"/>
    <p:sldId id="265"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p>
            <a:r>
              <a:t>It comes out of the federal record of U.S. wildfire occurrence -- two point three million fires, 1992 through 2020, each with a date, a location, a size in acres, and a cause. A quarter of those fires have no specific cause recorded -- and by acres, nearly a fifth. That turned out to be a finding rather than a nuisance.</a:t>
            </a:r>
          </a:p>
          <a:p/>
          <a:p>
            <a:r>
              <a:t>The recommendation, up front: for pre-season planning, stop targeting how big fires get. Target where they start.</a:t>
            </a:r>
          </a:p>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Both denominators are said aloud on purpose. Exact figures: 566,210 of 2,271,343 fires = 24.9% by count, but 33.2M of 179.4M acres = 18.5% by acres -- the missing fires are smaller than average. Beat 18's headline says "nearly a fifth of burned acres" and Tier 1's Unknown class is 18.5%; without the acres half of this sentence, an attentive listener hears slide 0 and beat 18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Most fires start in spring; most acres burn in summer.</a:t>
            </a:r>
          </a:p>
          <a:p>
            <a:r>
              <a:rPr dirty="0"/>
              <a:t>- MAM and JJA start nearly the same number of fires and differ 3.9x in acres.</a:t>
            </a:r>
          </a:p>
          <a:p>
            <a:endParaRPr dirty="0"/>
          </a:p>
          <a:p>
            <a:r>
              <a:rPr dirty="0"/>
              <a:t>WATCH —</a:t>
            </a:r>
          </a:p>
          <a:p>
            <a:r>
              <a:rPr dirty="0"/>
              <a:t>- No axes and no magnitudes on this one — it is a calendar, not a chart.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The unit here isn't a state. Fire follows terrain, vegetation and climate, not county lines -- so every fire is placed into an EPA Level III ecoregion, drawn from exactly those things. A hundred and five cover the country.</a:t>
            </a:r>
          </a:p>
          <a:p/>
          <a:p>
            <a:r>
              <a:t>Shade each by how much of its burned area is lightning-caused, and the map splits at about the hundredth meridian: natural in the West, human in the East, Alaska almost entirely natural. And it's not a gradient -- fifty regions sit below twenty percent natural, twenty-eight above eighty, only twenty-seven in between.</a:t>
            </a:r>
          </a:p>
          <a:p/>
          <a:p>
            <a:r>
              <a:t>So there's no national answer to what starts fires. There are regional ones.</a:t>
            </a:r>
          </a:p>
          <a:p/>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p>
            <a:r>
              <a:t>WATCH —</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beats 3–6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Beat 18 comes back for it.</a:t>
            </a:r>
          </a:p>
          <a:p/>
          <a:p>
            <a:r>
              <a:t>TIME -- 0:40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Acre-weighted TVD falls 0.331 -&gt; 0.278 from one prior season to three, then flattens.</a:t>
            </a:r>
          </a:p>
          <a:p>
            <a:r>
              <a:t>- Every window from three up sits within 1.4 points of the best.</a:t>
            </a:r>
          </a:p>
          <a:p>
            <a:r>
              <a:t>- Cause composition is a standing property, not a yearly swing.</a:t>
            </a:r>
          </a:p>
          <a:p>
            <a:endParaRPr/>
          </a:p>
          <a:p>
            <a:r>
              <a:t>WATCH —</a:t>
            </a:r>
          </a:p>
          <a:p>
            <a:r>
              <a:t>- The compression candidate if the talk runs long — it tunes a parameter of beat 3's baseline rather than adding a claim.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I am not changing how many fires I predict. I am only changing where I say they will be. Same numbers, wrong places — and the prediction stops working.</a:t>
            </a:r>
          </a:p>
          <a:p>
            <a:endParaRPr dirty="0"/>
          </a:p>
          <a:p>
            <a:r>
              <a:rPr dirty="0"/>
              <a:t>EVIDENCE —</a:t>
            </a:r>
          </a:p>
          <a:p>
            <a:r>
              <a:rPr dirty="0"/>
              <a:t>- Two lines, forecast and shuffled: mean observed starts against mean predicted for 20 equal-count strata.</a:t>
            </a:r>
          </a:p>
          <a:p>
            <a:r>
              <a:rPr dirty="0"/>
              <a:t>- The forecast climbs the diagonal (top stratum predicted 4.7, observed 3.7); the same predictions dealt to the wrong hexes go flat at ~0.4.</a:t>
            </a:r>
          </a:p>
          <a:p>
            <a:r>
              <a:rPr dirty="0"/>
              <a:t>- Spearman +0.526 -&gt; +0.0002; MAE 0.43 -&gt; 0.77, worse than the uniform baseline's 0.70. 1.59M held-out hex-seasons.</a:t>
            </a:r>
          </a:p>
          <a:p>
            <a:endParaRPr dirty="0"/>
          </a:p>
          <a:p>
            <a:r>
              <a:rPr dirty="0"/>
              <a:t>WATCH —</a:t>
            </a:r>
          </a:p>
          <a:p>
            <a:r>
              <a:rPr dirty="0"/>
              <a:t>- Avoid "the model is accurate" — the line runs below the diagonal and under-predicts the busiest hexes. Say: it ranks well, it does not promise counts.</a:t>
            </a:r>
          </a:p>
          <a:p>
            <a:r>
              <a:rPr dirty="0"/>
              <a:t>- The shuffled line is FLAT, not low. It sits at ~0.4, the average across all hexes.</a:t>
            </a:r>
          </a:p>
          <a:p>
            <a:r>
              <a:rPr dirty="0"/>
              <a:t>- Why shuffled and not random: shuffling changes exactly one thing (the pairing), so the collapse is attributable to siting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descr="w6_tier1_tiles.png"/>
          <p:cNvPicPr>
            <a:picLocks noChangeAspect="1"/>
          </p:cNvPicPr>
          <p:nvPr/>
        </p:nvPicPr>
        <p:blipFill>
          <a:blip r:embed="rId3"/>
          <a:stretch>
            <a:fillRect/>
          </a:stretch>
        </p:blipFill>
        <p:spPr>
          <a:xfrm>
            <a:off x="548640" y="1645920"/>
            <a:ext cx="11094415" cy="40973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few years of rolling average is enough.</a:t>
            </a:r>
          </a:p>
        </p:txBody>
      </p:sp>
      <p:pic>
        <p:nvPicPr>
          <p:cNvPr id="3" name="Picture 2" descr="w6_k_sweep.png"/>
          <p:cNvPicPr>
            <a:picLocks noChangeAspect="1"/>
          </p:cNvPicPr>
          <p:nvPr/>
        </p:nvPicPr>
        <p:blipFill>
          <a:blip r:embed="rId3"/>
          <a:stretch>
            <a:fillRect/>
          </a:stretch>
        </p:blipFill>
        <p:spPr>
          <a:xfrm>
            <a:off x="1236464" y="1028700"/>
            <a:ext cx="9718766" cy="54715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857127"/>
            <a:ext cx="11094415" cy="409733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descr="w6_human_ladder.png"/>
          <p:cNvPicPr>
            <a:picLocks noChangeAspect="1"/>
          </p:cNvPicPr>
          <p:nvPr/>
        </p:nvPicPr>
        <p:blipFill>
          <a:blip r:embed="rId3"/>
          <a:srcRect r="10486"/>
          <a:stretch>
            <a:fillRect/>
          </a:stretch>
        </p:blipFill>
        <p:spPr>
          <a:xfrm>
            <a:off x="141770" y="1252024"/>
            <a:ext cx="11908154" cy="466155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That skill is spatial, not statistical luck.</a:t>
            </a:r>
          </a:p>
        </p:txBody>
      </p:sp>
      <p:pic>
        <p:nvPicPr>
          <p:cNvPr id="3" name="Picture 2" descr="w6_shuffled_control.png"/>
          <p:cNvPicPr>
            <a:picLocks noChangeAspect="1"/>
          </p:cNvPicPr>
          <p:nvPr/>
        </p:nvPicPr>
        <p:blipFill>
          <a:blip r:embed="rId3"/>
          <a:stretch>
            <a:fillRect/>
          </a:stretch>
        </p:blipFill>
        <p:spPr>
          <a:xfrm>
            <a:off x="1638332" y="1063550"/>
            <a:ext cx="8707451" cy="5794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2728</TotalTime>
  <Words>3090</Words>
  <Application>Microsoft Macintosh PowerPoint</Application>
  <PresentationFormat>Widescreen</PresentationFormat>
  <Paragraphs>190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6</cp:revision>
  <dcterms:created xsi:type="dcterms:W3CDTF">2013-01-27T09:14:16Z</dcterms:created>
  <dcterms:modified xsi:type="dcterms:W3CDTF">2026-08-16T01:42:17Z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